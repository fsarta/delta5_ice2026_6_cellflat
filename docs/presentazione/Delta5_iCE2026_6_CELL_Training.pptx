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Training interno. Obiettivo: rendere autonomi i partecipanti nella lettura e nella modifica del progetto. Ogni slide ha note del relatore con i riferimenti al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giornate consigliate. Il codice è la fonte di verità: le slide dicono dove guardare e perché.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Pubblico: manutentori, sistemisti, chi eredita il progetto.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 due giornate le sezioni 06-09 occupano da sole mezza giornata.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convenzioni permettono di capire da un nome se una variabile è persistente, un contatore o un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Prima di leggere il codice: capire il processo fisico.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 nastri sono assi servo, non inverter: è questo che abilita il conveyor tracking di libreria (MC_TrackConveyorBelt).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Ciclo continuo: il nastro non si ferma mai per il prelievo. Il vincolo è che il pezzo non esca dalla finestra di tracking prima della 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Questi tre vincoli spiegano finestra di tracking, rampa del nastro e abort-to-parking.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telecamera non manda una coordinata: manda un telegramma con fino a 4 pezzi per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Slide perno: tutto il resto ruota attorno a questo vincolo cinematico.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Ordine di esecuzione e tempi: la base per capire i problemi di sincronizzazione.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HMI_Data è RETAIN: la parte ritentiva ha limiti propri, non conviene metterci array enormi.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Priorità 0 = più alta. Il motion sta a 2 ms, l'HMI a 32 ms: nessun calcolo HMI può rallentare il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istanze di Init (warm e cold start) sullo stesso programma: la differenza è il task che le invoca.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multi-task senza lock è sicuro solo grazie alla regola dello scrittore unico: vale la pena ripeterlo in ogni modifica.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Prima domanda da farsi quando si aggiunge codice: in quale task gira e quanto può durare.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la convenzione che rende sicuro il multi-task senza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Da dove arrivano i dati e dove finiscono i comandi.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codice tratta gli assi come AXIS_REF: aggiungere un asse non richiede di riscrivere la 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reti con filosofie diverse: una deterministica per il motion, una non deterministica per i dati di visione.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FC_BytesToReal è l'unico punto di conversione: attenzione all'endianness (LittleEndian sul 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E_Stop nel PLC è un'informazione, non il dispositivo di protezione.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famiglie di strutture: DT_Group per il gruppo, ST_AxisData per i singoli assi. Non sono intercambiabili.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orientarsi: prima structure.xml, poi il .st specifico, poi il .var per i tipi.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Mappa mentale del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Cyclic = programmi, Machine = function block con stato, Utils = mattoni senza dipendenze dalla macchina.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una modifica porta logica di macchina nei Utils, sta nascendo debito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PickPlaceManager ha ~165 righe: orchestrazione + rampa delegata a FB_ConveyorController.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structure.xml è l'albero reale; RecycleBin non partecipa al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Qui si capisce perché alcune variabili si vedono dall'HMI e altre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13 file .dt nel progetto, gli altri sono di libreria.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Vantaggio: sottoalberi coerenti. Svantaggio: essendo RETAIN, ogni campo pesa sulla memoria ritentiva.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Evita l'ambiguità 'chi ha scritto per ultimo': i Command sono ingressi, i Feedback uscite.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Esempio: EmergencyStop è un livello, MoveRelative è un fronte.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un parametro non è in Init, il suo valore è 'quello che capita'.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Questa tabella spiega perché è servito HMI_Data.Tracking: la coda non è leggibile dall'HMI se non la si copia.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Domanda tipica: 'perché a macchina spenta vedo ancora i pezzi in coda?'. Risposta: RETAIN; si azzera in Init o con un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Gli stati del sequencer vanno di 50 in 50 per poter inserire nuovi step senza rinumerare.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Piccolo esempio di manutenibilità nascosta nel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Chi tocca qui tocca la sicurezza funzionale della logica.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Domanda tipica: 'perché non cambio direttamente lo stato?'. Perché si perde l'ordine e si rompono i RETURN degli handler.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Due eccezioni al pattern: uscita da INIT e ingresso in TEACH_FRAME usano assegnazione diretta (sono transizioni di inizializzazione).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diagramma in ASCII completo è nel commento di FB_Instances.st.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Ridisegnato per la slide: l'originale in ASCII è nel codice. Da qualsiasi stato con servo in errore si va in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latch G_bAutoCycleRunning è forzato a FALSE: si entra in automatico sempre a ciclo fermo.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timeout evita che la macchina resti in uno stato indefinito se un servo non si abilita.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verifica aggregata è più corta ma dà un errore meno specifico ('un servo non è ON').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Homing = encoder del drive; commissioning = riferimento meccanico del gruppo nella cella.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Qui si vede che i nastri in automatico sono comandati in JOG: è il motivo per cui si fermano con JogDec (sezione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pattern 'se non abilitato, forza a FALSE la condizione' è ripetuto: i FB di motion leggono i consensi, non solo il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STOPPING è la rampa, UNPOWERING il distacco: separati per distinguere 'fermo' da 'senza coppia'.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Ogni attesa ha un timeout e un log: nessuno stato può bloccarsi in silenzio.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il punto in cui il progetto è più maturo: la sicurezza meccanica viene prima della reattività dell'errore.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Prima cosa da verificare quando 'il robot prende sempre spostato': i frame, non il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L'ordine degli ELSIF è la priorità: se E_Stop ed errore arrivano insieme, vince E_Stop. È una scelta, non un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la firma stilistica del progetto.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Come i dati delle strutture diventano chiamate MC_*.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Aggiungere un asse significa istanziare lo stesso FB, non riscrivere la logica di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Mapping 1:1 senza logica: la logica sta nei programmi che scrivono DATA_AXI. È ciò che rende il driver riusabile.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touch probe è la base del latch: la posizione del nastro allo scatto viene catturata dall'hardware del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la chiave per capire lo stop ciclo: i nastri non stanno 'posizionando'.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storia della terza riga è il caso di studio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sequencer entra nel motion solo tramite M_Driver_Motion_Cmd: una sola 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Metafora: un cambio a 4 marce che passa sempre alla successiva, senza mai scalare.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bIsFirstMove distingue il primo movimento del ciclo, che non deve essere blended, dai successivi.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sezione 09 entra nel dettaglio della legge che rispetta questa finestra.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Non partire dal codice: parti dallo stato dell'asse. Nove volte su dieci è 'servo non ON' o 'non homed'.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sezione più lunga: è il motore del ciclo produttivo.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Permette di ricomporre la sequenza (pick&amp;place, parking, abort) senza toccare la logica degli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bPlacePhaseActive e bStopAbortActive vengono azzerati qui a ogni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Aggiungere uno step richiede: metodo + AddStep in playlist + ramo nel dispatcher. Tre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contratto degli step: BUSY non fa nulla, DONE avanza, ERROR ferma. Il salto è opzionale via eRequestedJumpState.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Questi cinque flag spiegano il 90% dei comportamenti 'strani' in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CASE funziona anche da indice: dice quali step sono implementati.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eTransMode/eTransParam governano il blending (TMStartVelocity, 100%).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ACTIVE = il blocco ha preso il controllo: utile per considerare concluso un tratto che sta già sfumando nel successivo.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Copiare questo pattern quando si scrive un nuovo step: è usato in tutti i 24 step tranne quelli di computazione.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 passi 0-5 preparano la geometria; il 6 è l'unico che cambia la natura del movimento.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la telecamera desse un pezzo fuori area, il ciclo proverebbe comunque: è un punto da ripristinare (roadmap).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132 righe: lo step più lungo del sequencer. Qui si decide la finestra di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fallback su ActualPosition = 0 è una rete di sicurezza per i test a nastro fermo.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l'unico punto in cui il sequencer torna indietro: il jump esiste per il double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Fase speculare alla pick ma su un nastro diverso, con finestra più stretta.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chiusura ciclo è anche il punto in cui il KPI conta la piazzatura.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playlist di servizio riusano gli stessi metodi step: nessun codice duplicato per il parking.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il punto di ripristino prima di ogni nuova sequenza.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sproporzione pick/place (7 vs 13) è storica: il place ha più varianti (fisso, tracking, doppio).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Tre punti da toccare, non uno: è la checklist da seguire.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Tabella da tenere a portata di mano durante il debug in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Sezione chiave: decide se il robot prende sempre il pezzo.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EndDistance 500 mm, il nastro si ferma a 450 mm: 50 mm di margine.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Tutti i valori in mm, riferiti al frame FeedIn.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cambia la formula, va cambiata in due punti controllati: logica e visualizzazione, entrambi leggono lo stesso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zone sono in FB_ConveyorController, con un commento esteso in testa che spiega il perché di ognuna.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riga fuori dall'IF è la correzione che ha allineato lo stop dei due nastri (caso di studio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Esempio di scelta guidata dalla fisica del processo, non dal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protezioni servono perché i parametri arrivano dall'HMI: il blocco non deve mai dividere per zero o invertire la rampa.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Nasce da un difetto reale, raccontato nella sezione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pattern 'uscita di sicurezza' è ricorrente in tutto il progetto.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Regola: non si cambiano legge e parametro insieme. Prima si misura, poi si regola un solo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Derivata dai difetti realmente incontrati nel progetto.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Visione = trigger + latch + telegramma + formattazione + distribuzione.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Senza latch, il jitter di Ethernet/IP diventerebbe un errore di posizione di diversi millimetri.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xUsePhysTrigger = TRUE è la configurazione raccomandata.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commento nel codice lo dice esplicitamente: 'il valore deve essere fresco quando il FB vede il fronte del latch'.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140 mm di passo con 4 posti per foto: copertura sufficiente per pezzi fino a ~35 mm di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buffer ha 4 slot: è questo che limita Part_Count a 4. Il controllo su Part_Count &gt; 4 è commentato.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Endianness del controllore (LittleEndian) e del protocollo EIP: è l'errore classico che produce valori assurdi.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Catena a stadi con handshake Busy/Done: nessuno stadio sovrascrive il precedente.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L'ordinamento per X crescente è il presupposto del sequencer: 'il primo della coda' è il pezzo più avanti.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FB_KPI legge questi contatori per differenza.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'Coda piena' significa che la produzione non smaltisce quanto la visione rileva: indicatore di saturazione.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Sistema unico di raccolta errori, condiviso da tutti i POU.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buffer è globale e non per istanza: una sola lista errori visibile al pannello.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Senza deduplica un errore persistente riempirebbe il buffer di migliaia di righe identiche.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voci inattive restano nello storico eventi: base per la diagnosi post-turno.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E_ErrorSeverity è ordinato: il confronto '&gt;' restituisce la severità massima. Dettaglio implementativo elegante.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Confondere i tre è una fonte di rumore: un evento loggato come condizione resta 'attivo' per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Distinzione fondamentale per l'operatore: Ack non risolve.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Compromesso: messaggi generici ma codice allarme sempre visibile per la ricerca sul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Suggerimento: introdurre un rate-limiter per sorgente con finestra temporale.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Metriche di turno e di vita macchina, con formule e sorgenti.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doppio livello turno/lifetime evita di perdere la storia della macchina a ogni cambio turno.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Punto in roadmap: clamp dei delta negativi o uso di DINT con controllo di segno.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rateo è su finestra scorrevole a 60 posizioni, non su media dall'inizio turno: riflette lo stato attuale.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Tempi con TON e conversione TIME_TO_DINT(ET) in ms. Il primo ciclo non entra nella statistica.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Serve a calcolare la disponibilità: tempo operativo / tempo totale.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Raccomandazione: introdurre le categorie di fermata prima di parlare di OEE. È un lavoro sui codici errore.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L'inizio turno non è sincronizzato con l'orologio del controllore: quindi il reset è un comando operatore.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regola architetturale più importante per chi aggiunge pagine.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ciò che permette di rifare una pagina HMI senza toccare la logica di macchina.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Trappola: aggiungere una variabile al DataList senza mapparla in HMI.pou produce un nodo OPC sempre a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Non serve registrare i singoli campi: si pubblica la radice.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una variabile non è OPC, l'unico modo per vederla è copiarla in HMI_Data da un POU che vi accede.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 iCube non esistono le regioni: i commenti a blocchi sono l'unico modo per orientarsi e vanno mantenuti.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passo 2 è quello che manca più spesso nelle modifiche fatte di fretta.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un dato non esiste, non si inventa un KPI: meglio togliere la colonna che mostrare un numero senza significato.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Tutti i tag sono verificati come esistenti: nessun collegamento verso variabili non pubblicate.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scelta di progetto è stata togliere i campi, non simularli.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la lezione pratica della sezione HMI.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Sezione di confine: chiarire i limiti del software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Slide da dire esplicitamente a chi pensa che 'basta mettere un IF'.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Catene ridondate CH0/CH1: il software standard ne legge l'esito consolidato.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E-stop software serve per la logica (transizioni, log, HMI): non è il dispositivo di protezione.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 aula: far vedere il comportamento con porta aperta e servo ON per capire chi comanda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Tabella utile anche in audit: mostra che il confine è rispettato.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cronologia nel buffer permette di ricostruire l'ordine degli eventi al millisecondo.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parte più formativa: come si ragiona su una modifica a codice esistente.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causa è un parametro 'ottimizzato' in un punto solo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parametro 'adattivo' in un punto solo rompe un invariante globale: due nastri devono fermarsi uguali.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Metodo: confrontare i due percorsi di stop fino alla prima differenza. Il diff dei parametri JogDec è stato immediato.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50 mm a 50 mm/s sono circa un secondo di sicurezza per la 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margine di 50 mm è la vera specifica di progetto: va scritta nel documento di collaudo, non solo nei commenti.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Esercizio in aula: disegnare il grafico velocità/distanza e verificare la pendenza (v_min / ramp_margin = 1 mm/s per mm).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mockup grafico promette cose che il sistema non sa: va allineato prima di arrivare in reparto.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servisse il punteggio, la strada è cambiare il telegramma e la mappa dei byte: progetto, non 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Ogni riga corrisponde a una decisione verificata sul codice, non a un'ipotesi.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Chiudere chiedendo ai partecipanti un caso reale e applicando lo stesso metodo.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parte 'da manuale d'uso' per chi lavora sulla macchina.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passaggio 5 è spesso frainteso: non è un errore, è una scelta per la messa in servizio.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Distanza minima consigliata fra OO e XX: almeno 100 mm per un buon condizionamento numerico.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changelog è un POU: è visibile anche in iCube senza aprire il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Una voce per modifica funzionale, non per file toccato.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Dal sintomo al codice, mai dal codice al sintomo: il codice conferma, non scopre.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Tabella da stampare e tenere in armadio elettrico.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Chiusura costruttiva: il progetto è solido, ma con punti noti.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Nessuna voce è un difetto grave oggi: sono attriti che costano tempo in manutenzione.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Ordinare per rapporto impatto/rischio, non per 'quanto è bello'.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simulazione è già possibile: VIRTUAL_AXIS esiste ed è abilitato come gli altri assi.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Glossario per chi arriva da un'altra macchina: molti termini sono specifici del mondo Yaskawa/iCube.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È il riassunto operativo di tutto il corso.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Invitare a leggere i commenti in testa a FB_ConveyorController e PickPlaceManager come esempio di documentazione nel codice.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Consultazione durante gli esercizi, non da leggere tutto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Ogni modifica va provata su tutti gli stati, non solo su quello toccato.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Ordine di lettura: Code.st (motore) → M_Dispatcher → M_ConfigSequence_Run → i M_Step_*.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Livello 'driver': nessuna decisione di processo, solo traduzione in chiamate di libreria.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Aggiungere un asse = istanziare il FB, non scrivere una nuova catena di MC_*.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buffer è globale, non per istanza: è la lista errori unica della macchina.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Formule documentate anche in KPI/GUIDA_KPI.md, oltre che nei commenti del POU.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 solo FB orchestra la visione: VisionManager vede la chiamata e gli handshake.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Tutto il protocollo è qui: cambiare telecamera significa cambiare questo blocco.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Blocco 'puro': ottimo candidato per test unitari se si introdurrà un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Collegato allo stato TEACH_FRAME, raggiungibile da IDLE e da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il robot prende 'ruotato' di un angolo fisso, il sospetto cade 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L'errore di formattazione oggi non genera un allarme attivo (AddUpdateError commentato).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Utility riusabile per una eventuale sequenza di punti fissa.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Volutamente lungo e piatto: si legge come una tabella di mappatura.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copia di eCurrentStepName sta qui perché il sequencer è locale a questo programma.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Catena a stadi con handshake Busy/Done: nessuno stadio sovrascrive il precedente.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Utile per capire quanto costa un ciclo di supervisione.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Separare l'IO permette di leggere gli ingressi una sola volta per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Regola: il tipo dichiara, Init assegna. Se un parametro non è in Init, vale quel che capita.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Durante il debug si apre la scheda dello step indicato su HMI_Data.Process.Status.Step.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il doppio pick non parte, guardare prima questo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Punto di roadmap: ripristinare i limiti evita prese fuori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Dimenticare la rotazione dà un errore di presa che dipende dall'orientamento.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Stesso schema per il FeedOut con aTeachFrame[2].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Unica funzione di conversione: cambiarla cambia motion e visualizzazione.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Passaggio concettuale chiave: il robot lavora 'nel sistema del pezzo'.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Primo metodo da leggere insieme a FB_ConveyorController per problemi a fine corsa.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Esempio concreto del perché esiste il driver a 4 blocchi Blend.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Senza il fallback, un test in manuale resterebbe in BUSY per sempre.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TempPosConv serve allo step WaitAfterPick per misurare la corsa minima.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Non esiste un controllo di presenza pezzo: la verifica è indiretta.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La quota Z usa il minimo dei due frame: scelta prudenziale.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jump esiste esattamente per il double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questo uno Stop Cycle in fase place non abortisce il deposito.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Sintomo distintivo: presa buona, deposito spostato → è il frame di uscita.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Pick e place sono speculari ma non identici: le finestre cambiano (500 vs 200).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solo il deposito va 'fuori finestra', la causa è questa asimmetria.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place può essere anche in posizione fissa: il codice prevede entrambi i modi.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Asimmetria con lo step 8: da valutare se il deposito debba poter essere testato a nastro fermo.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rilascio avviene in discesa: non c'è attesa di appoggio.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Simmetrico a WaitAfterPick: si misura una corsa, non un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Dopo questo step ogni errore riguarda il robot, non il prodotto.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Deve essere raggiungibile senza attraversare i nastri.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Qui il KPI chiude la piazzatura (fronte di discesa di G_bPieceInHand).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Reset del ring buffer: indispensabile dopo un abort.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Lo step più lungo della famiglia parking.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Il disarmo esplicito è ciò che rende il parking uno stato davvero a riposo.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Per questo il reset deve passare da M_ResetMachine.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Codice storico: utile per capire l'evoluzione, fuorviante se considerato attivo.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lo step è in BUSY, la colonna 'condizione' dice cosa manca.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20-40 minuti ciascuno, in coppia, sul progetto aperto in iCube.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Correzione in plenaria: disegnare alla lavagna la catena completa dell'esercizio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Risposta dell'esercizio 3: con 520 il nastro non si ferma più prima della fine della finestra → rischio perdita di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L'esercizio 6 porta al primo item della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Risposta dell'esercizio 8: dopo un riavvio i delta negativi possono falsare il quality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Consultazione immediata.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Le G_ sono il bus interno: quando due parti devono comunicare, spesso passano da 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Errore classico: usare rad dove il resto del progetto usa gradi.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Se vedi una variabile Old, cerca il confronto che la aggiorna.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 nomi sono troncati dall'export di iCube: il riferimento certo è structure.xml.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Raccogliere i casi reali dei partecipanti per la prossima sessione.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FC4D6"/>
                </a:solidFill>
                <a:latin typeface="Calibri"/>
              </a:rPr>
              <a:t>FORMAZIONE TECNICA INTERNA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Delta5 iCE2026_6 CELL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0156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9DAE4"/>
                </a:solidFill>
                <a:latin typeface="Calibri"/>
              </a:rPr>
              <a:t>Formazione tecnica sul software di macchina: architettura, specifiche e scelte di progetto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FC4D6"/>
                </a:solidFill>
                <a:latin typeface="Calibri"/>
              </a:rPr>
              <a:t>Controller iC9226M-FSoE · iCube Engineer 2025.6 (build 7.2.38936.0)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55464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FC4D6"/>
                </a:solidFill>
                <a:latin typeface="Calibri"/>
              </a:rPr>
              <a:t>Cella robotizzata Delta 5 assi, due nastri servo, visione SensoPart 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8464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FC4D6"/>
                </a:solidFill>
                <a:latin typeface="Calibri"/>
              </a:rPr>
              <a:t>Documento basato sul codice del progetto (v_0.08.05)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1383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9FC4D6"/>
                </a:solidFill>
                <a:latin typeface="Calibri"/>
              </a:rPr>
              <a:t>18 sezioni + 4 appendici · percorso consigliato: 2 giornate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Premessa e percorso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Come è strutturata questa formazione e come usare le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Obiettivo e pubblico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Organizzazione del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Convenzioni sul codice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PREMESSA E PERCORSO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Obiettivo della formazione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>
                <a:solidFill>
                  <a:srgbClr val="1F2B36"/>
                </a:solidFill>
                <a:latin typeface="Calibri"/>
              </a:rPr>
              <a:t>Cosa impariamo: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come è fatta la cella Delta + due nastri, dall'alto verso il basso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come è organizzato il software PLCnext (IEC 61131-3 Structured Text)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perché ogni blocco è fatto così: specifiche, scelte, compromessi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come si diagnostica: cosa guardare e in che ordine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>
                <a:solidFill>
                  <a:srgbClr val="1F2B36"/>
                </a:solidFill>
                <a:latin typeface="Calibri"/>
              </a:rPr>
              <a:t>Cosa NON è: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non è un manuale di iCube né di PLCnext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non è un documento di collaudo o di sicurezza macchina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700">
                <a:solidFill>
                  <a:srgbClr val="1F2B36"/>
                </a:solidFill>
                <a:latin typeface="Calibri"/>
              </a:rPr>
              <a:t>Risultato atteso: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550">
                <a:solidFill>
                  <a:srgbClr val="5D6E7C"/>
                </a:solidFill>
                <a:latin typeface="Calibri"/>
              </a:rPr>
              <a:t>–  saper toccare una parte senza rompere il resto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PREMESSA E PERCORSO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Indice delle sezioni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995"/>
                <a:gridCol w="4892842"/>
                <a:gridCol w="4892842"/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01-04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Sistema, runtime, hardware, organizzazione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contesto e mappa del repository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Dati e tipi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DT_HMI, DT_Machine, DT_Group, DataList/OPC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Macchina a stati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FB_MachineController e 11 handler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Assi e gruppo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FB_AxisController, FB_GroupController, blend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Sequencer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playlist, dispatcher, driver, 24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Tracking e nastri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la legge del nastro in 4 zone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10-13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Visione, errori, KPI, HMI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 servizi trasversali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14-17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Sicurezza, casi di studio, procedure, debito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il mestiere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A-D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Appendici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schede POU, schede step, esercizi, riferimento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PREMESSA E PERCORSO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Convenzioni sul codice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Naming: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 = Function Block (con stato), FC_ = Function, M_ = metodo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DATA_ / HMI_Data / G_ = strutture globali o dati condivisi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Prefissi nelle strutture: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r/lr = LREAL, i/udi/ui = interi, b/x = BOOL, st = STRUCT, e = ENUM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Dove sta la verità: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tipi nei .dt, codice nei .st, variabili nei .var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DataList (CFG_DAD2D28) decide cosa è pubblicato su OPC UA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Nota: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 nomi dei file esportati sono troncati (~0000): il riferimento certo è structure.xml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Il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Che macchina è, cosa deve fare, chi sono gli attori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Layout e flusso del prodotto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Requisiti e vincoli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Attori e periferiche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 macchina in una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Cella robotizzata di pick &amp; place su nastro in movimento (tracking)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Robot Delta a 5 assi: S L U T B (B = rotazione del polso)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gruppo cinematico locale DELTA, non EtherCAT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Due nastri, entrambi assi servo: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FeedIn (CI): porta i pezzi sotto la telecamera e verso il robot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FeedOut (CO): porta via i pezzi depositati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Visione: telecamera SensoPart VISOR sopra il FeedIn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trigger fisico su distanza + latch di posizione sul servo (touch probe)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Pinza: due gripper pneumatici (MainValveGripper / SecondaryValveGripper)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Flusso fisico del prodotto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Ingresso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Pezzi in fila sul FeedIn, spaziatura variabile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La telecamera scatta ogni 140 mm di corsa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Ogni foto produce 0-4 pezzi con X, Y, Rz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Ogni pezzo è accodato con la posizione nastro allo scatto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Coda circolare da 150 posizioni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Lavorazione e uscita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Il sequencer prende il primo pezzo della coda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Abilita il tracking: il robot si aggancia al nastro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Scende in Z, chiude la pinza, risale (in inseguimento)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Deposita sul FeedOut (in tracking) o in posizione fissa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Torna in parking e ricomincia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Requisiti e vincoli di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Funzionali: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prelievo in movimento senza fermare il nastro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modalità singolo e doppio pezzo (due gripper)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automatico e manuale (jog, posizionamento, teach frame)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Sicurezza: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E-stop di cella, porte con guard lock, STO su servo (CH0/CH1)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Vincoli che hanno guidato le scelte: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nastro e robot sincronizzati entro pochi mm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pezzo non deve uscire dalla finestra di tracking (EndDistance)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stop ciclo deve essere sicuro: nessuna presa a metà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l'HMI deve leggere tutto senza accedere a variabili non esposte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Attori e periferiche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711"/>
                <a:gridCol w="3585754"/>
                <a:gridCol w="4980214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Interfaccia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Ruolo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SensoPart VISOR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Ethernet/IP (RX 72 B, TX 3 B)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risultati visione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7 servopack SGDXS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EtherCAT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 assi Delta + FeedIn + FeedOut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SliceBus safety I/O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PROFINET / SliceBus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E-stop, porte, STO, uscite sicure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OPC UA (variabili con flag OPC)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comandi e diagnostica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FMK / SDO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servizi Arp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parametri drive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PC engineering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iCube Engineer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build, deploy, watch, debug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Il nastro non si ferma mai: il robot deve inseguirlo.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Da questa frase derivano conveyor tracking, finestra di tracking, rampa di velocità e abort-to-parking.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Architettura di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Dove gira il codice: controller, risorse, task, programmi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Controller e risorsa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I 6 task e le priorità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Programmi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Watchdog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Un ciclo da 2 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ARCHITETTURA DI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Controller e risorse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711"/>
                <a:gridCol w="3386545"/>
                <a:gridCol w="5179422"/>
              </a:tblGrid>
              <a:tr h="853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Controller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iC9226M-FSoE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PLCnext Control con FSoE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iCube Engineer 2025.6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build 7.2.38936.0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Max program size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12.582.912 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limite del programma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Max data size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67.108.856 B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limite area dati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Endianness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LittleEndian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rilevante per lo scambio byte EIP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ARCHITETTURA DI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 6 task: priorità e tempi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294"/>
                <a:gridCol w="1494064"/>
                <a:gridCol w="1195251"/>
                <a:gridCol w="1494064"/>
                <a:gridCol w="4781005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Ciclo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Watchdog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Cosa ci gira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FastTask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2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4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IO, PickPlaceManager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MediumTask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2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8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Main (FB_MachineController), VisionManager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RnR_Task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16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16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RebootAndReset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SlowTask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32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32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ErrorManagerTask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64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128 ms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ErrorManager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Warm/ColdStart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100 ms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Init (una volta)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ARCHITETTURA DI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Programmi e assegnazione ai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IO1              WITH FastTask         : IO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PickPlaceManager WITH FastTask         : PickPlaceManager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Main1            WITH MediumTask       : Main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VisionManager    WITH MediumTask       : VisionManager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HMI1             WITH SlowTask         : HMI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InitWarmStart1   WITH WarmStartTask    : Init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InitColdStart1   WITH ColdStartTask    : Init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RebootAndReset   WITH RnR_Task         : RebootAndReset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PROGRAM ErrorManager     WITH ErrorManagerTask : ErrorManager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Conta la priorità del task, non l'ordine di dichiarazione.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ARCHITETTURA DI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questa ripartizione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FastTask (2 ms): tutto ciò che tocca il movimento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jitter qui diventa errore di inseguimento sul pezzo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MediumTask (2 ms): supervisione (macchina a stati, visione)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SlowTask (32 ms): solo copia dati verso HMI_Data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l'HMI è lenta, il motion non se ne accorge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Task dedicati per errori e riavvio: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l'error handler non deve dipendere dal ciclo di macchina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 di progetto: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variabile ha UN solo scrittore: nessun lock necessario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ARCHITETTURA DI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Watchdog: perché i tempi sono stretti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FastTask: 4 ms su ciclo 2 ms (fattore 2)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MediumTask: 8 ms su ciclo 2 ms (fattore 4)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SlowTask: 32 ms su ciclo 32 ms — nessun margine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Conseguenze pratiche: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mai cicli FOR lunghi o attese in HMI.pou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mai chiamate di comunicazione bloccanti nei task veloci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mirror della coda HMI è limitato a 8 righe per questo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 il watchdog scatta la macchina va in errore: non 'rallenta'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Regola: ogni variabile ha un solo scrittore.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Se serve un secondo scrittore, si passa da una struttura di comando con un unico punto di applicazione.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Hardware e fieldbus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Come il software vede la macchina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EtherCAT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Ethernet/IP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SliceBus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Assi e gruppi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File di configurazione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Nodi EtherCAT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7437120"/>
              </a:tblGrid>
              <a:tr h="8534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Nodo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Asse / funzione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SGDXS_Servopack 1-4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S, L, U, T (Delta)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SGDXS_Servopack 5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 (rotazione polso, opzionale)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SGDXS_Servopack 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FeedIn (CI)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SGDXS_Servopack 7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FeedOut (CO)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Virtual 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VIRTUAL_AXIS (test / master)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due reti principali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EtherCAT (motion)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7 servopack Yaskawa SGDXS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ciclo sincrono, riferimento per il motion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sopra EtherCAT gira anche FSoE (safety)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parametri drive via SDO (libParamSDO)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diagnostica: DriveAlarmID, warning, 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Ethernet/IP (visione)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adattatore verso VISOR: RX 72 byte, TX 3 byte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stato connessione in EIP_STATUS_REF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parsing byte-per-byte con FC_BytesToReal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non deterministico: da qui la necessità del latch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telegramma della telecamera (Main.pou)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stInput.ResultData.Pos_X[0]    := FC_BytesToReal(RX[8],  RX[9],  RX[10], RX[11]) / 1000.0;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stInput.ResultData.Pos_Y[0]    := FC_BytesToReal(RX[24], RX[25], RX[26], RX[27]) / 1000.0;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stInput.ResultData.Angle_Rz[0] := FC_BytesToReal(RX[40], RX[41], RX[42], RX[43]) / 1000.0;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... fino a indice [3]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stInput.ResultData.Part_Count  := RX[56];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4 pezzi per foto: X[0..3], Y[24..39], Rz[40..55]. Unità = valore/1000 (mm e gradi).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SliceBus e sicurezza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Moduli: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DI_8xDC24V, DO_8xDC24V (ingressi/uscite standard)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DI_4xDC24V Safety x2 (CH0/CH1), DO_4xDC24V Safety x2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Segnali nel codice: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safeEmergency_CH0/CH1, safeDeltaDoor_CH0/CH1, safeCameraDoor_CH0/CH1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safePilzSTO_SL/_UB/_TInv/_Spare (STO per gruppi di assi)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safeOutDeltaDoor / safeOutCameraDoor (guard lock)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Filosofia: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safety è FSoE/hardware: il software standard legge solo l'esito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PLC standard non può escludere una catena di sicurezza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Assi e gruppi nel codice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669280"/>
              </a:tblGrid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AXES_GROUP_REF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gruppo cinematico 5 assi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S/L/U/T/B_Axis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AXIS_REF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assi singoli del gruppo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FeedIn_Axis / FeedOut_Axis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AXIS_REF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nastri (CI / CO)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VIRTUAL_AXIS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AXIS_REF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asse virtuale per test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DATA_Delta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DT_Group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comandi e stato del gruppo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DATA_FeedInAxis / FeedOutAxis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ST_AxisData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comandi e stato nastri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HARDWARE E FIELDBUS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File di configurazione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776"/>
                <a:gridCol w="7994904"/>
              </a:tblGrid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structure.xml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albero logico del progetto (POU e metodi)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CFG_DAD2D28.dl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DataList: variabili globali, flag OPC/RETAIN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RES_...set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task, programmi, watchdog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ETHERCAT_Master.station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configurazione master EtherCAT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EIP_Master.station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adattatore Ethernet/IP (telecamera)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*.dt / *.var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tipi e dichiarazioni variabili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Organizzazione del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Come è suddiviso il progetto e perché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Alberatura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Macro-aree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PROGRAM sottili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Recycle Bin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ORGANIZZAZIONE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Alberatura (Logical Elements)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Logical Elements/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├── CHANGELOG.pou              storia e convenzioni di versione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├── Cyclic/                    programmi eseguiti ciclicamente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Main.pou               entry point MediumTask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PickPlaceManager.pou   core del ciclo (FastTask)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VisionManager.pou      acquisizione e distribuzione pezzi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HMI.pou                mappatura verso/da pannello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IO.pou                 ingressi/uscite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├── ErrorManager.pou       orchestratore errori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└── RebootAndReset.pou     riavvio e reset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├── Initialize/                Init, InitColdStart, InitWarmStart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├── Machine/                   FB_MachineController, FB_KPI, Axis/, Group/,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│                              Vision/, Error/, FB_PickPlace_Sequencer1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└── Utils/                     FB_ConveyorController, FC_BytesToReal, DEG_TO_RAD...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ORGANIZZAZIONE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quattro macro-aree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208"/>
                <a:gridCol w="2602991"/>
                <a:gridCol w="6507480"/>
              </a:tblGrid>
              <a:tr h="10241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Natura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Regola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Cyclic/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PROGRAM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orchestrano: leggono comandi, chiamano FB, scrivono uscite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Machine/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FUNCTION_BLOCK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incapsulano stato; niente accesso diretto a IO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Initialize/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PROGRAM di startup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un solo punto di scrittura dei default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Utils/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FB/FC generici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B36"/>
                          </a:solidFill>
                          <a:latin typeface="Calibri"/>
                        </a:rPr>
                        <a:t>riusabili, nessuna dipendenza dalla macchina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ORGANIZZAZIONE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i PROGRAM sono sottili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Un PROGRAM contiene solo: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mappatura dei comandi, chiamata dei FB, mappatura delle uscite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Vantaggi: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logica sta nei FB, che sono testabili e riusabili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si vede subito il flusso dati di un ciclo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debug si concentra su un blocco, non su 800 righe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Eccezione dichiarata: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HMI.pou è lungo e piatto: è tutta mappatura, un solo scrittore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ORGANIZZAZIONE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Residui e Recycle Bin: cosa NON è codice attivo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Nel Recycle Bin del progetto: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FB_ErrorHandler_OLD, F_EnqueueError/F_EnqueueEvent, Auto_AXES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una copia di Locally_Hosted_Group e un Generic_Adapter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conta: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sono file che sembrano codice e non lo sono (non compilano)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sono utili come storia dell'evoluzione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 pratica: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prima di modificare: verificare che il file sia in Logical Elements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Le strutture che tengono insieme tutto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File dei tipi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ST_HMI_Interface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DT_Machine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DataList e flag OPC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RETAIN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Enumerativi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Dove sono definiti i tipi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776"/>
                <a:gridCol w="7994904"/>
              </a:tblGrid>
              <a:tr h="6400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~DT_HMI~0000.dt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ST_HMI_Interface e tutte le strutture HMI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~DT_Machine~0000.dt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DT_Machine + E_MachineState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~DT_Group~0000.dt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DT_Group: comandi e stato del gruppo Delta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~DT_Axi~0000.dt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ST_AxisData (Command/Setting/Status/Feedback/Error)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~DataTypes~0000.dt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E_PickPlace_State, E_PickPlaceMode, E_StepStatus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~DT_KPI_Dat~0000.dt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ST_KPI_Data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~DT_Yaskawa~0000.dt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tipi e codici della libreria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ST_HMI_Interface — la radice dell'interfaccia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ST_HMI_Interface : STRUCT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Dashboard  : ST_HMI_Dashboard;   // comandi, status, versioni, IO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Robot      : ST_Robot;           // command / setting / status / feedback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Axis       : ST_Axes;            // FeedIn / FeedOut / Virtual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TeachFrame : ST_HMI_Frames;      // dati di teach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Process    : ST_HMI_Process;     // setting + status di processo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Vision     : ST_HMI_Vision;      // command / status / ultimo prodotto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Tracking   : ST_HMI_Tracking;    // mirror coda pezzi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END_STRUCT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Tutto ciò che il pannello legge o scrive passa da qui: un solo albero, un solo nodo OPC.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Comando vs Stato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Command (HMI → PLC)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scritti dal pannello, validati dal PLC: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PowerUp, StartCycle, StopCycle, AutomaticMode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JogJoint/JogLinear, MoveAbsolute/Relative, ResetErrors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Il PLC li valida: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posizionamento solo in MANUAL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jog solo con Safety_Button premuto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Status / Feedback (PLC → HMI)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scritti dal PLC, sola lettura per il pannello: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IsRunning, IsAutoMode, AllMotorsServoOn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CurrentSpeed, CycleTime, ProductsPerMin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state, error, ErrorID di assi e gruppo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Regola: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150">
                <a:solidFill>
                  <a:srgbClr val="5D6E7C"/>
                </a:solidFill>
                <a:latin typeface="Calibri"/>
              </a:rPr>
              <a:t>–  il pannello non scrive mai un Feedback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Setting vs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Setting = parametri, non 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CommandVelocity/Acceleration/Deceleration, CommandPosition, HomingPosition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copiati ad ogni ciclo nelle strutture dei drive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Command = eventi: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MoveAbsolute, MoveRelative, StartCycle, JogFWD (hanno un fronte)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è importante: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Setting può cambiare in qualsiasi momento senza effetti collaterali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Command scritto a livello alto resta attivo finché non lo si resetta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Trappola nota: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comando HMI che resta TRUE viene riapplicato ad ogni ciclo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DT_Machine — parametri di macchina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_Setting : STRUCT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MinVelocity_Delta : LREAL;      // 1500  velocita' minima assi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MinRamp_Delta     : LREAL;      // 10000 rampa minima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ZPickPlaceSpeed   : LREAL;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Delta_Z_Pick      : LREAL;      // 55 mm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Delta_Z_Place     : LREAL;      // 35 mm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OffsetCamera      : LREAL;      // 750 mm  camera -&gt; punto di presa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LimitPos          : Array_XY_range;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TrackingWindowStart : LREAL;    // 300 mm (inizio fascia di prelievo)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TrackingWindowEnd   : LREAL;    // 450 mm (nastro fermo)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END_STRUCT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Qui vivono i numeri del processo. Il tipo dichiara, Init.pou assegna.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Flag del DataList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4488"/>
                <a:gridCol w="1115568"/>
                <a:gridCol w="1301495"/>
                <a:gridCol w="4834128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Variabile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OPC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HMI_Data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canale unico pannello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KPI_Data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metriche di turno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G_xCycleActive / G_bAutoCycleRunning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di ciclo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G_xKPI_ResetShift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reset turno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MultiGrpProductData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coda pezzi (150 posti)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MonitorStatusData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distanze dei prodotti in coda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DATA_* (drive e gruppo)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accesso diretto non necessario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RETAIN: cosa significa in pratica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HMI_Data è RETAIN nel DataList: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sopravvive a warm start e power cycle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serve per non perdere impostazioni e contatori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campo aggiunto consuma memoria ritentiva: tenerla piccola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 valori 'vivi' vanno riscritti ogni ciclo, altrimenti restano vecchi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campo RETAIN mai scritto mostra il valore del ciclo precedente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Esempio: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coda HMI è limitata a 8 righe proprio per non gonfiare l'area ritentiva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DATI, TIPI E INTERFACCIA OPC 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Enumerativi principali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035040"/>
                <a:gridCol w="2377440"/>
              </a:tblGrid>
              <a:tr h="8534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Valori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E_MachineState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INIT, IDLE, TEACH_FRAME, POWERING_UP, HOMING, WAIT_FOR_COMMISSIONING, OPERATIONAL_AUTOMATIC, OPERATIONAL_MANUAL, STOPPING, UNPOWERING, SHUTDOWN, 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stato macchina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E_PickPlace_State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Initialize, CheckPickLimits, ... CycleCompletition (=100..3200)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step del sequencer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E_StepStatus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BUSY, DONE, ERROR, ACTIVE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esito di uno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E_ErrorSeverity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None, Info, Warning, MinorError, MajorError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gravità errori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E_PickPlace_OperationalMode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Normal, FixedPick, FixedPlace, TrackingBoth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modo operativo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 numeri distanziati negli enum sono spazio per crescere, non pigrizia.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E_PickPlace_State avanza di 50 in 50 proprio per inserire step intermedi senza toccare quelli esistenti.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La macchina a stati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FB_MachineController: il supervisore di tutto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Pattern NextState + bTransition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Diagramma degli stati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Gli 11 handler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Priorità delle transizioni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pattern fondamentale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State_MachineController è lo stato corrente (E_MachineState)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Ogni handler fa due cose: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esegue le azioni dello stato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deve cambiare stato assegna NextState e mette bTransition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In fondo a STATE_MACHINE.st: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IF bTransition THEN State := NextState; bTransition := FALSE; END_IF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è un buon pattern: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le azioni dello stato finiscono prima della transizione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nessun handler può saltare uno stato scrivendolo direttamente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precedenza delle transizioni si legge nell'IF/ELSIF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L'ossatura del FB (STATE_MACHINE.st)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State_MachineController = E_MachineState#INIT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State_MachineController := E_MachineState#IDLE;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DATA_Delta.Command.GroupControl.Enable := FALSE;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HmiFramesData.StartTeach AND (State = IDLE OR State = OPERATIONAL_MANUAL)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State_MachineController := E_MachineState#TEACH_FRAME;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// AUTOCYCLE: fuori dall'automatico il latch del ciclo e' azzerato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State_MachineController &lt;&gt; E_MachineState#OPERATIONAL_AUTOMATIC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G_bAutoCycleRunning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CASE State_MachineController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E_MachineState#IDLE:        THIS.HandleIdleState();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E_MachineState#POWERING_UP: THIS.HandlePowerUpState();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bTransition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State_MachineController := NextState;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bTransition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Gli stati e i loro handler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3346704"/>
                <a:gridCol w="5020056"/>
              </a:tblGrid>
              <a:tr h="39389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Handler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INIT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(inline)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ripristino uscite e passaggio a IDLE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IDLE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HandleIdleState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attesa comandi, lampade spente, gripper chiusi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TEACH_FRAME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HandleTeachFrameState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calibrazione 3 punti dei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POWERING_UP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HandlePowerUpState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enable di assi e gruppo, reset allarmi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HOMING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HandleHomingState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homing e verifica servo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WAIT_FOR_COMMISSIONING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HandleCommissioningState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posizionamento manuale iniziale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OPERATIONAL_AUTOMATIC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HandleAutomaticState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ciclo, visione, nastri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OPERATIONAL_MANUAL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HandleManualState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jog e posizionamento da pannello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STOPPING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HandleStoppingState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arresto controllato (group stop)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UNPOWERING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HandleUnpoweringState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toglie alimentazione con timeout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SHUTDOWN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HandleShutdownState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stato finale, rientro a INIT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HandleErrorState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diagnosi, reset, stop sicuro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Diagramma degli stati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+--------+   PowerUp   +--------------+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|  IDLE  |------------&gt;| POWERING_UP  |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+--------+             +--------------+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   |  ^                     |      |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(Stop)   |  | (Shutdown)          |      | (Fail)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   v  |                     v      v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+-----------+             +--------+  |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| UNPOWERING|             | HOMING |&lt;-+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+-----------+             +--------+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     ^                       |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+---------+    +-------------+------------+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|STOPPING |&lt;---|  AUTOMATIC  |  MANUAL    | COMMISSIONING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      +---------+    +-------------+------------+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HandleIdleState — pronta ma ferma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spegne LampIn/LampOut e chiude entrambe le valvole gripper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Transizioni: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PowerUp AND (auto OR (Safety_Button + manuale)) AND NOT E_Stop → POWERING_UP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StartTeach → TEACH_FRAME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Dettagli: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PowerUp viene consumato (:= FALSE) per non ri-attivarlo al ciclo dopo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E_Stop impedisce la transizione: non si alimenta con emergenza attiva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LogEvent Info 'Ready to POWER UP' per tracciabilità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HandlePowerUpState — dare potenza in sicurezza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Enable/En_Group/En_Power sul gruppo, Enable su FeedIn, FeedOut, Virtual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fbPowerUpTimer 5 s come watchdog di sequenza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Verifica: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bServosNotReady = almeno un servo non in SVON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non pronti: AlarmClear e ResetFault su gruppo e nastri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Transizioni: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servo pronti + GroupStatus + PowerStatus → HOMING o operativo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timeout 5 s → ERROR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Nota: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reset allarmi al power-up non è un bypass: se il guasto persiste torna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HandleHomingState — referenziare gli 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mantiene PowerStatus ed Enable su tutti gli assi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verifica continua dello stato servo (bServoError_Homing)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Transizioni: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servo in errore → ERROR con RETURN immediato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homing concluso → AUTOMATIC o MANUAL secondo bAutoModeSelected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Osservazioni: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l'homing vero è delegato ai FB di asse (MC_Home) via FB_AxisController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qui c'è la supervisione, non la sequenza di motion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molti controlli per-asse sono commentati: vale la verifica aggregata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HandleCommissioningState — messa in posizione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Quando: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dopo l'homing, se Commissioning = TRUE (prima messa in servizio)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fa: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GroupIsHomed := FALSE (posizione non ancora valida)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verifica servo come gli altri handler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attende l'impostazione della posizione (GroupSetPosition)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Transizioni: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posizione confermata → AUTO o MANUAL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è separato da HOMING: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rifare il riferimento senza rifare l'homing completo dei drive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HandleAutomaticState — il cuore produttivo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Start/Stop ciclo sui fronti: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rtStartCycleBtn → G_bAutoCycleRunning := TRUE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rtStopCycleBtn → G_bAutoCycleRunning := FALSE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Azioni cicliche: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DATA_FeedInAxis.Command.JogPos := G_bAutoCycleRunning (i nastri girano col ciclo)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LampIn/LampOut TRUE, xVision_StartCycle := G_bAutoCycleRunning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StartPickPlace_Delta := TRUE (non si resetta a metà ciclo)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Sicurezza: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servo non ON → ERROR; E_Stop o PowerDown → STOPPING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errore sequencer o MajorError → STOPPING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nessun modo selezionato → STOPPING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HandleManualState — jog e posizionamento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Condizioni calcolate una volta: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xMotionAxesEnableCondition = NOT StartCycle AND bManualModeSelected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xJogJoint/xJogLinearEnableCondition, MovementAllowed := Safety_Button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Assi: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jog avanti/indietro mutuamente esclusivi (IF/ELSIF esplicito)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posizionamento assoluto o incrementale solo in manuale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Robot: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jog giunti, jog lineare, move assoluto in ACS o MCS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Uscite: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Safety_Button rilasciato o PowerDown → STOPPING con azzeramento comandi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HandleStoppingState — arresto controllato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verifica servo: errore → ERROR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DATA_Delta.Command.En_EmergencyGroupStop := TRUE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toglie jog e posizionamento sugli assi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non si taglia la potenza: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taglio secco su un robot in movimento è pericoloso e violento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group stop usa la rampa di decelerazione configurata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Transizioni: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arresto completato → UNPOWERING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Differenza con ERROR: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ERROR = guasti; STOPPING = richieste di fermata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HandleUnpoweringState / HandleShutdownState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UNPOWERING: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En_Power := FALSE sul gruppo, Enable := FALSE sui tre assi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fbUnpowerTimer 10 s, poi SHUTDOWN anche se un drive non rilascia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SHUTDOWN: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disabilita gruppo e azzera En_EmergencyGroupStop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azzera i comandi EmergencyStop dei tre assi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GroupStatus FALSE → INIT (timeout 5 s come fallback)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 si torna a INIT e non a IDLE: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INIT rifà il reset di tutte le uscite di default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Ciclo completo: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IDLE → POWERING_UP → HOMING → operativo → STOPPING → UNPOWERING → SHUTDOWN → INIT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HandleErrorState — diagnosi e recupero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Azioni immediate: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StartPickPlace_Delta := FALSE, xVision_StartCycle := FALSE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io.bSystemReady := FALSE, azzera i comandi di jog/movimento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Stop sicuro: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bStopToUnpower = errore servo OR gruppo non in movimento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se TRUE: toglie En_Power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se il gruppo si muove e i servo sono OK: STOPPING → UNPOWERING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Recupero: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G_bResetAllErrors → rientro verso INIT/IDLE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Lezione: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l'errore non spegne mai 'a caldo' un robot in movimento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HandleTeachFrameState — calibrazione 3 punti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Procedura: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l'operatore porta il TCP su OO, XX, XY e conferma ogni punto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rtConfirmPoint(CLK := ConfirmPoint) cattura il fronte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 sequenza completa si esegue il calcolo (FrameTypeTransform)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Due modalità: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servo ON → teach con jog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servo OFF → trascinamento manuale (free-drag)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è importante: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tutti gli offset FeedIn/FeedOut derivano da questi frame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frame sbagliato si manifesta come errore di posizione sistematico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LA MACCHINA A STATI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Priorità delle transizioni in AUTOMATICO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926080"/>
                <a:gridCol w="4389120"/>
              </a:tblGrid>
              <a:tr h="853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Destinazione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Perché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E_Stop OR PowerDown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STOPPING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sicurezza, massima priorità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errore sequencer / MajorError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STOPPING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non si prosegue con guasti attivi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manuale selezionato + safety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OPERATIONAL_MANUAL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cambio modo richiesto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nessun modo selezionato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STOPPING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arresto di sicurezza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servo non 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condizione anomala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Ogni attesa ha un timeout, ogni transizione un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PowerUp 5 s, Unpower 10 s, Shutdown 5 s, visione 10 s, KPI 1 s / 1 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Assi e gruppo cinematico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FB_AxisController, FB_GroupController e la libreria di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Mapping dati → 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MC_* usati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Blend a 4 blocchi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Diagnostica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FB_AxisController: la catena di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FB_AxisController(AXI := FeedIn_Axis, DATA_AXI := DATA_FeedInAxis)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├── MAPPING_In.st     Command/Setting      -&gt; CMD_*, VAR_*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├── MOTION.st         MC_Power, MC_Jog, MC_MoveRelative,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│                     MC_MoveAbsolute, MC_TouchProbe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├── MAPPING_Out.st    STS_*                 -&gt; Status/Feedback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├── READINGS.st       letture diagnostiche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└── WRITE_Parameters  parametri drive via SDO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Un solo schema per tutti gli assi: FeedIn, FeedOut, Virtual.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Mapping in ingresso (MAPPING_In.st)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416"/>
                <a:gridCol w="7065264"/>
              </a:tblGrid>
              <a:tr h="568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CMD_ / VAR_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Sorgente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CMD_Enable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DATA_AXI.Command.Enable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CMD_JogFor / CMD_JogRev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Command.JogPos / JogNeg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CMD_AbsPos / CMD_IncPos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Command.AbsPositioning / IncPositioning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CMD_Stop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Command.EmergencyStop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CMD_TouchProbe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Command.TouchProbe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VAR_JogSpeed / JogAcc / JogDec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Setting.JogSpeed / JogAcc / JogDec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VAR_PosSpeed / PosAcc / PosDec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Setting.PositioningSpeed / Acc / Dec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VAR_TriggerInput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Setting.TouchProbeTriggerInput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MOTION.st — i FB PLCopen chiamati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Y_MotionAxisDriver1(Axis := AXI, Enable := TRUE)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AxisControl_1(...)                     // power + stato + allarmi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MC_Reset1(Axis := AXI, Execute := CMD_ResetFault)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Jog_1(... Velocity := VAR_JogSpeed, Acceleration := VAR_JogAcc,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Deceleration := VAR_JogDec, Jerk := 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MC_MoveRelative_1(... BufferMode := VAR_IncPosBufferMode)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MC_MoveAbsolute_1(... Direction := VAR_AbsPosDirection)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MC_TouchProbe_1(... RecordedPosition =&gt; VAR_TouchProbeRecPos)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Jerk = 0 su tutti i blocchi: il drive non lo supporta.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Jog vs Posizionamento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Jog (MC_Jog):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velocità continua finché il comando è alto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al rilascio il drive decelera con la Deceleration del blocco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è il meccanismo con cui girano i nastri in automatico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Posizionamento (MC_MoveRelative/Absolute):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raggiunge una quota e si ferma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usato in manuale per movimenti puntuali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Conseguenza importantissima: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in automatico i nastri sono in JOG → velocità = JogSpeed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decelerazione di arresto è JogDec, non PositioningDec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comando di velocità del FeedIn (HMI.pou)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DATA_FeedInAxis.Setting.JogSpeed := MIN(HMI_Data.Axis.FeedIn.Setting.CommandVelocity,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                       FeedIn_SmoothSpeed);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DATA_FeedInAxis.Setting.JogAcc   := MIN(HMI_Data.Axis.FeedIn.Setting.CommandAcceleration,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                       FeedIn_SmoothAcceleration);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DATA_FeedInAxis.Setting.JogDec   := HMI_Data.Axis.FeedIn.Setting.CommandDeceleration;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Il MIN permette al controllo di rallentare il nastro senza riscrivere il setting utente (la terza riga NON ha MIN, vedi sezione 15).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FB_GroupController e il sequencer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Divisione: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FB_GroupController = 'muscoli': FB di gruppo e tracking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FB_PickPlace_Sequencer1 = 'cervello': cosa fare e quando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Dentro FB_GroupController: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GroupReadStatus, GroupJogJoint/Linear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MoveLinearAbsolute (4 istanze Blend) e MoveLinearRelative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MC_TrackConveyorBelt x2 (FeedIn e FeedOut)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GroupStop, GroupSetPosition, SetFrameOffset, FrameTypeTransform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 separarli: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sequencer non conosce assi né bus, solo 'muoviti qui'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Blend ring buffer: perché 4 blocchi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Problema: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ciclo è una catena di movimenti; fermarsi fra l'uno e l'altro costa tempo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BlendingPrevious permette di fondere i tratti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Soluzione: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4 istanze Blend1..Blend4 usate a rotazione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M_Driver_InitPointers parte da Blend4: il primo comando va su Blend1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M_Driver_Motion_Cmd avanza circolarmente (CASE eCurrentMoveID)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4: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margine per sequenze con più tratti consecutivi senza 'buchi' di comando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ciclo dei blocchi (M_Driver_Motion_Cmd)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IF bExecute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IF bIsFirstMove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eCurrentMoveID := E_MotionChannel#Blend1;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bIsFirstMove := FALSE;  bHasPreviousMove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ELSE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ePreviousMoveID := eCurrentMoveID;  bHasPreviousMove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CASE eCurrentMoveID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E_MotionChannel#Blend1: eCurrentMoveID := E_MotionChannel#Blend2;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E_MotionChannel#Blend2: eCurrentMoveID := E_MotionChannel#Blend3;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E_MotionChannel#Blend3: eCurrentMoveID := E_MotionChannel#Blend4;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E_MotionChannel#Blend4: eCurrentMoveID := E_MotionChannel#Blend1;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END_CASE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MC_TrackConveyorBelt: i parametri che contano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840480"/>
                <a:gridCol w="3840480"/>
              </a:tblGrid>
              <a:tr h="568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ConveyorBelt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asse nastro inseguito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FeedIn_Axis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RecordedPosition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posizione nastro allo scatto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latch + OffsetCamera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ConveyorBeltOrigin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frame del nastro in MCS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FeedIn_FrameOffset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InitialObjectPosition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posizione pezzo nel frame nastro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vision − frame offset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StartDistance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spazio minimo per il sync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10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EndDistance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fine finestra di tracking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500 mm (FeedIn), 200 (FeedOut)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SyncIn Conveyor/TCP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corsa durante il sync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10 / 5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SyncOut ConveyorDistance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corsa in uscita dal sync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15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ASSI E GRUPPO CINEMATICO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Diagnostica di asse: cosa guardare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Status.Enabled / ServoOn / Homed / StandStill / Moving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Status.Errors + Feedback.DriveAlarmID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Movimento: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ActualPosition / CommandPosition (scostamento = errore di inseguimento)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ActualSpeed / CommandSpeed, Feedback.FollErr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Eventi: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Error.TouchProbe_Err, Status.TouchProbeDone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Ordine di diagnosi: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ServoOn → Homed → Error → AlarmID → posizione/velocità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FB_PickPlace_Sequencer1: playlist, dispatcher, driver, 43 metodi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Playlist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Motore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Dispatcher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Driver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I 24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Parking, abort e reset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Il sequencer non è un CASE monolitico: è una playlist eseguita da un dispatcher.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Sequenza = array di stati. Ogni stato = un metodo. Il motore decide solo quando avanzare.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M_ConfigSequence_Run — la playlist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0 *) AddStep(Initialize);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1 *) AddStep(CheckPickLimits);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2 *) AddStep(CalculatePickGripperOffset);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3 *) AddStep(SetPickFrame_Tracking);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4 *) AddStep(ConvertPickToCartesian_Tracking);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5 *) AddStep(SetPickOffsetAndPCS_Tracking);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6 *) AddStep(EnablePickTracking);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7 *) AddStep(ApproachPick_Tracking);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8 *) AddStep(WaitForPickSync);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 9 *) AddStep(DescendAndPick);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10 *) AddStep(AscendAfterPick);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11 *) AddStep(MoveToParking_AfterPick);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12 *) AddStep(SelectNextProduct_Pick);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---- PLACE ----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(* 13 *) AddStep(InitializePlace);   ...   (* 23 *) AddStep(CycleCompletitionAndChangeMode);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24 step: pick 0-12, place 13-23. StartMovePath è commentato.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una playlist e non un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Vantaggi: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sequenza è un dato: si può ricomporre a runtime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parking e abort sono altre playlist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step è un metodo isolato, leggibile e testabile da solo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 salti avvengono per nome stato, non per numero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Costi: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livello di indirezione in più in debug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stato è distribuito fra iCurrentStepIndex e le variabili degli step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Il patto implicito: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step torna BUSY/DONE/ERROR/ACTIVE e non fa transizioni da solo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motore del sequencer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IF PickPlace_Status AND NOT PickPlace_Error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// --- SOFT ABORT su Stop Cycle ---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IF StopCycleEnabled AND NOT bPlacePhaseActive AND NOT bStopAbortActive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AND (SequenceList[iCurrentStepIndex] &lt;&gt; Initialize)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bActivateGripper1 := FALSE; bActivateGripper2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TrackConveyorBelt_FeedIn.Execute := FALSE; TrackConveyorBelt_FeedOut.Execute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THIS.M_ConfigSequence_AbortToParking();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iCurrentStepIndex := 0; bStepInitialized := FALSE; bStopAbortActive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IF iCurrentStepIndex &lt; iTotalSteps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eCurrentStepName := SequenceList[iCurrentStepIndex];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eStepResult := THIS.M_Dispatcher(eCurrentStepName);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CASE eStepResult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E_StepStatus#BUSY: ;        // aspetta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E_StepStatus#DONE:  bStepInitialized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    IF eRequestedJumpState &lt;&gt; Unknown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        iCurrentStepIndex := THIS.M_Helper_FindStepIndex(eRequestedJumpState);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        eRequestedJumpState := Unknown;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    ELSE iCurrentStepIndex := iCurrentStepIndex + 1;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    E_StepStatus#ERROR: PickPlace_Error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END_CASE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motore: stati e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PickPlace_Status: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TRUE = sequencer in esecuzione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PickPlace_Error: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uno step ha risposto ERROR: blocca fino al reset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iCurrentStepIndex / iTotalSteps: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posizione e lunghezza della playlist corrente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bStepInitialized: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false = entry action non ancora eseguita; il motore lo azzera ad ogni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eRequestedJumpState: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permette a uno step di chiedere un salto (double pick)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bPlacePhaseActive / bStopAbortActive: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soft abort solo in fase pick e una volta per ciclo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M_Dispatcher — il ponte fra playlist e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CASE eState OF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E_PickPlace_State#Initialize:                 res := THIS.M_Step_Initialize();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E_PickPlace_State#CheckPickLimits:            res := THIS.M_Step_CheckPickLimits();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E_PickPlace_State#CalculatePickGripperOffset: res := THIS.M_Step_CalcPickOffset();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E_PickPlace_State#SetPickFrame_Tracking:      res := THIS.M_Step_SetPickFrame_Tracking();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E_PickPlace_State#EnablePickTracking:         res := THIS.M_Step_EnablePickTracking();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E_PickPlace_State#ApproachPick_Tracking:      res := THIS.M_Step_ApproachPick_Tracking();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E_PickPlace_State#WaitForPickSync:            res := THIS.M_Step_WaitForPickSync();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E_PickPlace_State#DescendAndPick:             res := THIS.M_Step_DescendAndPick();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M_Dispatcher := res;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Un CASE 1:1 con l'enum. Nessuna logica: solo smistamento.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M_Driver_Motion_Cmd — l'unica porta verso il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M_Driver_Motion_Cmd(fX, fY, fZ, fRx, fRy, fRz, fVel, fAcc, fDec,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        eCoordSys, eBufferMode, eTransMode, param, eTransParam,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        stMoveOption, bExecute);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dentro: seleziona il canale Blend corrente e scrive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MoveLinearAbsolute_BlendN.Position     := vettore;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MoveLinearAbsolute_BlendN.Velocity     := fVel;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MoveLinearAbsolute_BlendN.Acceleration := fAcc;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MoveLinearAbsolute_BlendN.Deceleration := fDec;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MoveLinearAbsolute_BlendN.Execute      := TRUE;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Tutti gli step usano questa firma: cambiare strategia di motion = cambiare un metodo.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M_Driver_Motion_Check — come uno step sa di aver finito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M_Driver_Motion_Check := E_StepStatus#BUSY;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IF MoveLinearAbsolute_BlendN.Error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M_Driver_Motion_Check := E_StepStatus#ERROR;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ELSIF MoveLinearAbsolute_BlendN.Active AND NOT MoveLinearAbsolute_BlendN.Busy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M_Driver_Motion_Check := E_StepStatus#ACTIVE;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ELSIF MoveLinearAbsolute_BlendN.Done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M_Driver_Motion_Check := E_StepStatus#DONE;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Gli step che muovono chiamano questo metodo nel loro cyclic check.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pattern di uno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Fase 1 — Entry Action: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IF NOT bStepInitialized THEN ... bStepInitialized := TRUE; RETURN; END_IF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configura e lancia il comando UNA sola volta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Fase 2 — Cyclic Check: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interroga l'esito (M_Driver_Motion_Check, Done, condizione)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ritorna BUSY / DONE / ERROR / ACTIVE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il RETURN dopo l'entry: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evita di valutare un esito che non può ancora esistere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garantisce che il comando sia stato visto dal drive per un ciclo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Eccezione: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gli step di solo calcolo non hanno entry action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Fase PICK: gli step 0-6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0 Initialize: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gripper OFF, flag del ciclo, tracking disarmato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 CheckPickLimits: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legge il pezzo dalla coda, DONE se esiste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 CalculatePickGripperOffset: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offset del gripper ruotato di Rz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3 SetPickFrame_Tracking: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frame FeedIn dai 3 punti insegnati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4 ConvertPickToCartesian_Tracking: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vettore frame → riferimento cartesiano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5 SetPickOffsetAndPCS_Tracking: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robot lavora nel sistema del pezzo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6 EnablePickTracking: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arma MC_TrackConveyorBelt sul FeedIn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Step 1-2: coda e offset gripper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M_Step_CheckPickLimits: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UsePointer/StorePointer di stPickPlaceProductData_Pick[GroupNumber]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estrae X, Y, Rz grezzi del pezzo selezionato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DONE se c'è un pezzo, BUSY se la coda è vuota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Attenzione: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 controlli sui limiti fisici sono presenti ma commentati: oggi non bloccano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M_Step_CalcPickOffset: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offset per gripper 1 o 2 (stGripper1_Offset / stGripper2_Offset)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rotazione: X' = X + (ox·cos − oy·sin), Y' = Y + (ox·sin + oy·cos)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serve perché i due gripper sono montati ruotati di Rz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Step 5-6: PCS e aggancio al nastro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SetPickOffsetAndPCS_Tracking: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GroupSetFrameOffset con ExecutionMode Immediately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RefCoordSystem MCS, SetCoordSystem PCS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EnablePickTracking: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ConveyorBeltOrigin ← FeedIn_FrameOffset[1..6]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InitialObjectPosition ← prodotto − frame offset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normalizzazione Rz oltre ±90°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RecordedPosition + OffsetCamera, StartDistance 10, EndDistance 500, SyncIn 10/5, SyncOut 15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avvia fbRotatePosition per il polso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>
                <a:solidFill>
                  <a:srgbClr val="1F2B36"/>
                </a:solidFill>
                <a:latin typeface="Calibri"/>
              </a:rPr>
              <a:t>Uscita: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250">
                <a:solidFill>
                  <a:srgbClr val="5D6E7C"/>
                </a:solidFill>
                <a:latin typeface="Calibri"/>
              </a:rPr>
              <a:t>–  DONE quando TrackConveyorBelt_FeedIn.Active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Step 7-10: avvicinamento, presa, risalita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7 ApproachPick_Tracking: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movimento a quota 0, velocità MinVelocity_Delta, in PCS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DONE/ACTIVE al primo riscontro: il successivo è già armato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8 WaitForPickSync: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attende InSync; fallback se ActualPosition = 0 (nastro fermo)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9 DescendAndPick: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attiva il gripper corretto, scende a Delta_Z_Pick (55 mm)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salva TempPosConv = posizione nastro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10 AscendAfterPick: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risalita a quota 0 con ZPickPlaceSpeed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Punto delicato: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la pinza si attiva prima della discesa; nessuna verifica di contatto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Step 11-12: uscita dal 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11 MoveToParking_AfterPick: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X/Y del frame FeedOut, Z = MIN(FeedIn.Z, FeedOut.Z), Rz = −45°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12 SelectNextProduct_Pick: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ci sono altri pezzi in coda e siamo sul primo gripper: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→ eRequestedJumpState := Initialize (torna a prendere il secondo)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altrimenti il motore prosegue verso il PLACE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la coda è vuota: UsePointer := 0 e bGoToNextPhase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serve un salto: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in double mode il ciclo ripete la fase pick due volte prima del place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Fase PLACE: gli step 13-18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13 InitializePlace: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bPlacePhaseActive := TRUE (da qui il soft abort non è più permesso)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14 SetPlaceFrame_Tracking: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frame FeedOut da aTeachFrame[2]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15 ConvertPlaceToCartesian_Tracking: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conversione del frame di deposito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16 EnablePlaceTracking: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arma il tracking sul FeedOut, EndDistance 200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17 ApproachPlace_Tracking: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avvicinamento in PCS a quota 0, Rz = −45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18 WaitForPlaceSync: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attende InSync del FeedOut (senza fallback)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Fase PLACE: gli step 19-23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19 DescendAndPlace: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discesa a Delta_Z_Place (35 mm) e rilascio del gripper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20 WaitAfterPlace_Tracking: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attesa in sync dopo il rilascio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21 AscendAfterPlace: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risalita a quota 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22 MoveToParking_AfterPlace: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rientro verso il parking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23 CycleCompletitionAndChangeMode: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bPlaceCycleComplete := TRUE, poi il motore ricarica la playlist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Nota: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Z di place (35) &lt; Z di pick (55): il deposito è più basso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Playlist di servizio: parking e abort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M_ConfigSequence_Parking: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usata quando l'utente preme Stop Cycle a fine ciclo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M_ConfigSequence_AbortToParking: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soft abort a metà ciclo: gripper OFF, tracking OFF, rientro sicuro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Step di servizio: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InitParking: disarma tracking, gripper OFF, reinizializza i blend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MoveToParking_SafePosition: posizione fuori ingombro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FinalParkingCompletition: disarmo di frame transform e set frame offset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Error: attesa (BUSY) finché non si resetta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M_ResetMachine — il reset pulito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PickPlace_Status := FALSE, iCurrentStepIndex := 0, bStepInitialized := FALSE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tracking e tutti e quattro i MoveLinearAbsolute_BlendN.Execute := FALSE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gripper OFF e reset dei FB interni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Quando: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quando StartPickPlace passa a FALSE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evita che un Execute resti armato e riparta al riavvio del ciclo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 dopo un reset 'si muove da solo':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quasi sempre c'è un Execute rimasto alto, verificare qui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 43 metodi del sequencer, per famiglia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951"/>
                <a:gridCol w="8130410"/>
                <a:gridCol w="756317"/>
              </a:tblGrid>
              <a:tr h="568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Famiglia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Metodi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N.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Motore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M_Dispatcher, M_Helper_FindStepIndex, AddStep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Configurazione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M_ConfigSequence_Run / _Parking / _AbortToParking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Driver motion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M_Driver_Motion_Cmd / _Check / _InitPointers / _ResetMove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Pick (prep.)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Initialize, CheckPickLimits, CalcPickOffset, SetPickFrame, ConvertPickToCartesian, SetPickOffsetAndPCS, EnablePickTracking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Pick (azione)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ApproachPick, WaitForPickSync, DescendAndPick, AscendAfterPick, MoveToParking, SelectNextProduct, WaitAfterPick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Place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13 metodi (frame, tracking, approach, descend, wait, ascend, parking, completition)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Parking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InitParking, MoveToParking_SafePosition, FinalParkingCompletition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Altro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M_ResetMachine, M_Step_Error, M_Step_StartMovePath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Come aggiungere uno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Enum: valore in E_PickPlace_State (sfruttando lo spazio 50-50)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Metodo: M_Step_&lt;Nome&gt; con entry action + cyclic check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Dispatcher: nuovo ramo nel CASE di M_Dispatcher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4. Playlist: AddStep nella posizione corretta (e in Parking se serve)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5. Verifica: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step non fa transizioni da solo e ritorna sempre un esito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le risorse usate sono disarmate in M_ResetMachine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Errore più comune: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aggiungere il metodo e dimenticare il ramo nel dispatcher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IL SEQUENCER PICK &amp;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Errori tipici nel sequencer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/>
                <a:gridCol w="4023360"/>
                <a:gridCol w="4023360"/>
              </a:tblGrid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Sintomo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Causa probabile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Dove guardare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Ciclo fermo in uno step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step ritorna sempre BUSY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il metodo e lo stato del FB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Salto sbagliato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eRequestedJumpState non azzerato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M_Helper_FindStepIndex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Doppio pick non eseguito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modo doppio non caricato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step 0, iGripperToUse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Insegue il pezzo sbagliato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UsePointer/StorePointer incoerenti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CheckPickLimits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Movimento a scatti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blend non attivo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M_Driver_Motion_Cmd / BlendN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Ciclo riparte da solo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Execute rimasto alto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M_ResetMachine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Stop cycle non si chiude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bStopAbortActive già TRUE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motore, ramo abort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La legge che lega nastro, robot e finestra di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Finestra di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Le 4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Perché la zona 2 è costante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Rampa finale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Decelerazione unica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Taratura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Il nastro non deve mai portare il pezzo fuori dalla finestra di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Tutto il controllo di velocità del FeedIn esiste per garantire questo.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soglie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743200"/>
                <a:gridCol w="4206240"/>
              </a:tblGrid>
              <a:tr h="465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Parametro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TrackingWindowStart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300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DT_Machine.Setting (Init.pou)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TrackingWindowEnd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450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DT_Machine.Setting (Init.pou)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EndDistance (tracking)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500 mm FeedIn / 200 FeedOut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M_Step_Enable*Tracking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StartDistance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10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M_Step_EnablePickTracking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SyncIn Conveyor/TCP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10 / 5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M_Step_EnablePickTracking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SyncOut Conveyor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15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M_Step_EnablePickTracking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end_zone_margin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50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PickPlaceManager (locale)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v_min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50 mm/s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PickPlaceManager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OffsetCamera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750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DT_Machine.Setting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Distanza trigger camera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140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VisionManager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 formula della distanza (unica per la macchina)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distance = MonitorStatusData[0].DistanceFromOrigin[1]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- DATA_Machine.Setting.OffsetCamera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dove   DistanceFromOrigin[1] = ActualPosition - RecordedPosition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RecordedPosition     = posizione nastro latchata allo scatto + OffsetCamera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quindi, per il pezzo in tracking: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distance = corsa del nastro dal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La stessa grandezza è replicata in HMI.pou per la pagina Tracking: niente copie divergenti.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quattro zone del controllo nastro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Zona 1 — distance ≤ 300 mm (o coda vuota):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velocità nominale, tracking non attivo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Zona 2 — 300 → 400 mm: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fascia di prelievo a velocità COSTANTE v_min = 50 mm/s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Zona 3 — 400 → 450 mm: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rampa proporzionale da v_min a 0 (end_zone_margin = 50 mm)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Zona 4 — oltre 450 mm: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setpoint 0, accelerazione al minimo (acc_min)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Decelerazione: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sempre dec_max = CommandDeceleration, in tutte le zone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FB_ConveyorController — la scelta delle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516636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51663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(distance &lt;= tracking_start)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OR (UsePointer = StorePointer) THEN                 // ZONA 1 (+ coda vuota)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speed_setpoint := v_nominal;  tracking_active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ELSIF distance &lt; (tracking_end - ramp_margin) THEN     // ZONA 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speed_setpoint := v_ramp_min;  tracking_active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ELSIF distance &lt; tracking_end THEN                     // ZONA 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d_remaining := tracking_end - distance;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ratio_end   := 1.0 - (d_remaining / ramp_margin);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ratio_end   := MAX(0.0, MIN(1.0, ratio_end));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speed_setpoint := v_ramp_min * (1.0 - ratio_end);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IF d_remaining &lt; 1.0 THEN speed_setpoint := 0.0;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tracking_active := TRUE;  end_zone_active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ELSE                                                    // ZONA 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speed_setpoint := 0.0;  acceleration := acc_min;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tracking_active := TRUE;  end_zone_active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deceleration := dec_max;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la zona 2 è costante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 fosse proporzionale per tutta la fascia: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pezzo della fila farebbe rallentare il nastro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preso un pezzo, il tracking passa al successivo (più indietro)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nastro riaccelera e poi rallenta di nuovo: effetto 'pompa'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 velocità costante: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cambio di velocità avviene una volta sola all'ingresso in fascia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resta stabile per tutto il prelievo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rampa resta dove serve: gli ultimi 50 mm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Compromesso accettato: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throughput minore, in cambio di prelievo stabile e ripetibile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 rampa finale e il fermo garantito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Formula: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speed = v_ramp_min × (1 − ratio_end) = v_ramp_min × d_remaining / ramp_margin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Comportamento: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 450 mm il setpoint è 0 per costruzione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rampa continua: nessun gradino nel setpoint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ultimo millimetro: azzeramento secco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l'azzeramento secco: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una rampa proporzionale tende a zero asintoticamente: il nastro striscerebbe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scalino residuo è &lt; v_min / ramp_margin ≈ 1 mm/s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Protezioni: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zone_length ≥ 2 mm, ramp_margin clampato, v_ramp_min = MIN(v_min, v_nominal)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La decelerazione è una sola per i due nastri: quella impostata in HMI.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Qualsiasi 'ottimizzazione' locale della decelerazione rompe l'allineamento dello stop ciclo.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Reti di sicurezza del blocco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Coda vuota (UsePointer = StorePointer):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nastro torna a nominale anche se l'ultimo pezzo è fermo sulla soglia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senza questa condizione il nastro resterebbe a 0 e la linea si fermerebbe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enable = FALSE (ciclo fermo, manuale):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nessuna frenata: nominale, acc_max, dec_max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jog resta identico a quello del FeedOut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Fallback nel sequencer: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WaitForPickSync considera DONE anche con ActualPosition = 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prima di aggiungere uno stop, chiedersi come se ne esce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Come si regola la legge del nastro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Da HMI: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CommandVelocity, CommandAcceleration, CommandDeceleration del FeedIn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Da Init.pou (richiede rebuild):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TrackingWindowStart/End, OffsetCamera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In PickPlaceManager: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v_min = 50, end_zone_margin = 50, acc_min/dec_min = 100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Procedura di taratura: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1. verificare 450 &lt; EndDistance (500)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2. misurare la distanza reale di stop con un pezzo marcato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3. se supera la soglia: alzare v_min o allargare end_zone_margin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4. se il ciclo è lento: valutare il throughput della zona 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TRACKING E CONTROLLO NASTRI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Sintomi e cause sul controllo nastro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776"/>
                <a:gridCol w="4090416"/>
                <a:gridCol w="3904488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Sintomo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Rimedio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Nastro che 'pompa'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rampa proporzionale in zona 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ripristinare velocità costante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Pezzo oltre la finestra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tracking_end troppo vicino a EndDistance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aumentare il margine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Nastro che striscia sulla soglia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manca azzeramento secco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controllare d_remaining &lt; 1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Stop ciclo FeedIn lentissimo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dec_min usato come JogDec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JogDec = CommandDeceleration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Nastro fermo dopo l'ultimo pezzo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manca condizione coda vuota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ripristinare OR UsePointer=StorePointer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Pezzo preso corto/lungo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frame o OffsetCamera errati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verificare frame e offset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Catena di visione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Dal trigger fisico al pezzo in coda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Trigger fisico + latch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FB_VisionApplication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Telegramma 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Formattazione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Distribuzione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La posizione del pezzo non è 'dov'è il nastro adesso', ma 'dov'era quando la telecamera ha scattato'.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Da qui nasce la necessità del latch hardware (MC_TouchProbe).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trigger fisico e posizione latchata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Problema: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telegramma EIP arriva con latenza variabile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leggere ActualPosition alla ricezione dà un errore casuale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Soluzione in due pezzi: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uscita digitale SLIO → impulso al trigger della telecamera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stesso segnale entra nel latch del servo (touch probe)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Risultato: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posizione è catturata dall'hardware del drive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precisione indipendente dalla latenza di rete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Modalità legacy: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xUsePhysTrigger := FALSE → trigger EIP e campionamento software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Latch e trigger in VisionManager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DATA_FeedInAxis.Setting.TouchProbeTriggerInput.Bit := UINT#1;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DATA_FeedInAxis.Setting.TouchProbeTriggerInput.ID  := UINT#0;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rtTouchProbeDone(CLK := DATA_FeedInAxis.Status.TouchProbeDone);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rtTouchProbeDone.Q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rLatchedBeltPos := DATA_FeedInAxis.Feedback.TouchProbeRecPos;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fbVisionApp( ... rLatchedPosition := rLatchedBeltPos,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             xTouchProbeDone  := DATA_FeedInAxis.Status.TouchProbeDone,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             xTouchProbeError := DATA_FeedInAxis.Error.TouchProbe_Err, ... 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DATA_FeedInAxis.Command.TouchProbe := fbVisionApp.xArmTouchProbe;  // arma il probe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xPhysTriggerCamera := fbVisionApp.xPhysTrigger;                    // impulso al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Ordine obbligato: il latch si cattura PRIMA della chiamata al FB visione.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Trigger su distanza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Parametri: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xEnableDistanceTrigger := TRUE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rDistanceSetpoint := 140.0 mm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rConveyorCurrentPos := DATA_FeedInAxis.Feedback.ActualPosition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Logica (FB_DistanceTrigger in FB_VisionApplication):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ogni 140 mm di corsa → impulso di 10 ms (tPhysTriggerPulse)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spaziatura delle foto fissa in distanza, non in tempo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 nastro lento si scatta meno spesso: nessuna foto doppia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Alternativa ciclica: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xEnableCyclicMode = FALSE, non usata in produzione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Telegramma VISOR: mappa dei 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2"/>
                <a:gridCol w="3160776"/>
                <a:gridCol w="2231136"/>
                <a:gridCol w="4090416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Byte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0-7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header / stato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connessione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8-23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Pos_X[0..3]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REAL × 4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÷1000 → mm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24-39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Pos_Y[0..3]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REAL × 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÷1000 → 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40-55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Angle_Rz[0..3]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REAL × 4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÷1000 → gradi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Part_Count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BYTE/INT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0-4 pezzi per foto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TX 3 B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trigger / job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comandi verso la telecamera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Conversione byte →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stInput.ResultData.Pos_X[0] := FC_BytesToReal(RX[8], RX[9], RX[10], RX[11]) / 1000.0;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FUNCTION FC_BytesToReal : REAL          // composizione little-endian IEEE754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FUNCTION FC_BytesToInt  : DINT          // contatori interi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Un solo punto di conversione: se cambia il protocollo, si cambia qui.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Dal risultato grezzo al pezzo in coda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VisionManager copia i risultati in buffer locali: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aBuffer_X / aBuffer_Y / aBuffer_Rz, solo sul fronte di xVisionCycleDone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fbFormatProductData: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converte in InputProductData; Execute se bNewVisionDataReady AND NOT Busy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fbSequenceDistribution: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TriggerConveyorPosition := rTriggeredPosition (latchata)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scrive in MultiGrpProductData[0], buffer circolare da 150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4. fbMultiGrpProductMonitor: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calcola MonitorStatusData: distanze e stato dei prodotti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è la sorgente di DistanceFromOrigin per il controllo nastro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Opzioni di distribuzione (PartOptions)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5303520"/>
              </a:tblGrid>
              <a:tr h="853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Effetto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DuplicateDetect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scarta pezzi duplicati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DuplicateMinDifference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250.0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soglia di distinguibilità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Sort / SortBy / SortOrder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TRUE / X / Ascending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primo della coda = più avanti sul nastro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SequenceLength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nessun pattern: pezzi indipendenti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BufferSize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posti nell'anello MultiGrpProductData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Contatori di visione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Incrementati al fronte di xVisionCycleDone: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G_udiVisionCycles, G_udiVisionEmptyPhotos, G_udiProductsDetected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Tempo di elaborazione: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dal fronte del trigger fisico al Done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tonVisionProc con timeout 10 s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salvato in G_tVisionLastProcTime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contare le foto vuote: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percentuale alta = nastro non caricato o trigger fuori zona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è un KPI diagnostico, non produttivo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CATENA DI VISIONE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Guasti tipici della visione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4848"/>
                <a:gridCol w="4090416"/>
                <a:gridCol w="4090416"/>
              </a:tblGrid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Sintomo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Causa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Dove guardare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Nessun pezzo in coda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telecamera non connessa / job errato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ConnectionState, EIP_STATUS_REF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Pezzi sfasati in avanti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trigger in ritardo o pulse lungo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tPhysTriggerPulse, uscita SLIO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Pezzi sfasati indietro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latch non catturato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TouchProbeDone, TouchProbe_Err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Coordinate assurde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endianness o ÷1000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FC_BytesToReal, mappa byte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Pezzi doppi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DuplicateMinDifference bassa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PartOptions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Coda satura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BufferSize 150 superato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UsePointer/StorePointer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Rz sbagliato di 90°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normalizzazione del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M_Step_EnablePickTracking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Gestione errori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FB_ErrorHandler: buffer circolare, severità, ack e 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Buffer circolare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AddUpdateError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LogEvent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Severità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Ack vs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ErrorManager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modello: un buffer circolare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Struttura: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G_ErrorBuffer[1..C_ERROR_BUFFER_SIZE], condiviso fra tutti i POU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indici G_udiErrorHead (scrittura) e G_udiErrorTail (lettura)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G_bBufferFull distingue pieno da vuoto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Ogni voce: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ErrorCode, ErrorSource, ErrorMessage, Severity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IsActive, Acknowledged, Timestamp (SysTimestamp)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Chi lo usa: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MachineController, sequencer, VisionManager, ErrorManager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AddUpdateError — la logica di deduplica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IF bErrorDetected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FOR i := 1 TO C_ERROR_BUFFER_SIZE 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IF G_ErrorBuffer[i].ErrorCode = udiErrorID AND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G_ErrorBuffer[i].ErrorSource = sErrorSource AND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G_ErrorBuffer[i].IsActive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    udiActiveMatchIndex := i;  EXIT;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END_FOR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IF udiActiveMatchIndex = 0 THEN          // nuovo errore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G_ErrorBuffer[G_udiErrorHead].ErrorCode   := udiErrorID;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G_ErrorBuffer[G_udiErrorHead].ErrorSource := sErrorSource;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G_ErrorBuffer[G_udiErrorHead].Severity    := eErrorSeverity;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G_ErrorBuffer[G_udiErrorHead].IsActive    := TRUE;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    G_ErrorBuffer[G_udiErrorHead].Timestamp   := SysTimestamp;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ELSE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    // errore rientrato: marca inattiva la voce attiva con stessa sorgente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Chiave di deduplica: la coppia (ErrorCode, ErrorSource), non il solo codice.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la deduplica è indispensabile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Il codice è ciclico: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una condizione viene valutata ogni 2-64 ms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senza deduplica: centinaia di voci identiche al secondo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Criterio: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stessa sorgente + stesso codice = stessa voce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Rientro: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quando la condizione torna FALSE la voce resta in buffer ma IsActive := FALSE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storico è preservato: si sa che è avvenuto e quando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numero di voci attive è un indicatore affidabile di stato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severità e cosa comportano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79"/>
                <a:gridCol w="4937760"/>
              </a:tblGrid>
              <a:tr h="8534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Severità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Effetto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evento informativo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solo log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anomalia non bloccante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log + indicazione su 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MinorError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errore recuperabile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stop ciclo, reset necessario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MajorError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guasto serio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macchina in STOPPING/ERROR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voce cancellata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usato dal reset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LogEvent vs AddUpdateError vs CheckAndEnqueue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LogEvent(code, source, message, severity):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evento puntuale, non condizione persistente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usato per transizioni di stato e azioni operatore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AddUpdateError(condizione, ...):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legato a una condizione: TRUE = attivo, FALSE = rientrato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è il metodo da usare per i guasti di campo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CheckAndEnqueue(...):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usa un 'old state' per rilevare solo il fronte di salita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nel progetto molti usi sono commentati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condizione che dura → AddUpdateError; evento istantaneo → LogEvent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Update — reset e acknowledge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xResetErrorsR_TRIG(CLK := bResetErrors OR G_bResetAllErrors);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IF xResetErrorsR_TRIG.Q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FOR i := 1 TO C_ERROR_BUFFER_SIZE 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G_ErrorBuffer[i].IsActive := FALSE;  G_ErrorBuffer[i].Acknowledged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G_ErrorBuffer[i].ErrorCode := 0;     G_ErrorBuffer[i].Severity := E_ErrorSeverity#None;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END_FOR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G_udiErrorHead := 1;  G_udiErrorTail := 1;  G_bBufferFull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G_bResetAllErrors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xAcknowledgeErrorsR_TRIG(CLK := bAcknowledgeErrors OR G_bAcknowledgeAllErrors);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IF xAcknowledgeErrorsR_TRIG.Q THEN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FOR i := 1 TO C_ERROR_BUFFER_SIZE 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    IF G_ErrorBuffer[i].IsActive THEN G_ErrorBuffer[i].Acknowledged := TRUE; 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END_FOR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    G_bAcknowledgeAllErrors := FALSE;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1B2B38"/>
                </a:solidFill>
                <a:latin typeface="Consolas"/>
              </a:rPr>
              <a:t>END_IF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Reset = svuota tutto. Ack = prende atto, ma l'errore resta se la condizione persiste.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GESTIONE ERRORI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ErrorManager e diagnosi del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ErrorManager (task dedicato, 64 ms):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scansiona il buffer, conta le voci attive, calcola la severità massima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espone la lista su HMI, mantiene il pareto per codice/sorgente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funziona anche se il ciclo di macchina è bloccato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Errori di motion: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drive → allarme EtherCAT → FB_AxisController → DATA_AXI.Status/Error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FB_MachineController legge lo stato servo e chiama AddUpdateError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si espone la condizione aggregata + DriveAlarmID per la diagnosi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 non si mappa ogni allarme: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centinaia di codici Yaskawa, manutenzione impossibile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Un allarme che si ripete ogni ciclo non è un errore: è un difetto di progetto.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Se il buffer riceve voci sempre uguali, il problema è il criterio di rilevamento, non il guasto.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KPI e metriche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FB_KPI: cosa misuriamo, come e perché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Contatori turno/lifetime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Formule di produzione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Tempi di ciclo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Disponibilità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Reset turno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Architettura dei contatori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Tre livelli: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variabili G_udi* globali incrementate dai POU sorgente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contatori di turno (udiSh*) resettabili da G_xKPI_ResetShift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contatori lifetime (udiLife*) mai resettati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Sorgenti di evento: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G_bPieceInHand (salita = prelievo, discesa = piazzatura)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G_bPickPlaceError, xPhysTriggerCamera, TouchProbeDone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Calcolo: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delta rispetto al valore precedente, tick da 1 s e 1 min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Output: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KPI_Data (OPC) + copia in HMI_Data.Process.Status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Perché i contatori globali richiedono i delta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G_udiVisionCycles è un UDINT sempre crescente: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FB_KPI non lo resetta: non ne è il proprietario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calcola udiDelta := G_udiVisionCycles − udiVisionCyclesOld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Vantaggi: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solo scrittore per variabile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KPI può essere ricalcolato senza toccare i contatori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Attenzione: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al riavvio i G_ tornano a 0: il delta diventerebbe negativo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su UDINT diventa un numero enorme: da verificare prima di pubblicare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KPI di produzione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6879336"/>
                <a:gridCol w="1487424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Unità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Picked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fronti di salita di G_bPieceInHand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Placed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fronti di discesa di G_bPieceInHand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pz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Cycles / Good cycles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piazzature concluse / senza errore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cicli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Quality rate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Good cycles / Cycles × 100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Products detected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somma Part_Count della visione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Empty photos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foto con Part_Count = 0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foto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Products/min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placed nell'ultimo minuto (array 60 posti)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pz/min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KPI di tempo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  <a:gridCol w="5020056"/>
                <a:gridCol w="278892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Definizione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Cycle time last/min/max/avg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 piazzatura a piazzatura (tonCycle)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timeout 600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Pick time last/avg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 prelievo a piazzatura (tonPick)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timeout 60 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Vision proc 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dal trigger fisico al Done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timeout 10 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Error episode time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durata media degli episodi di errore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aggregato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Uptime / time in 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secondi operativi / in 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per stato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Since last 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secondi dall'ultimo errore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contatore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Distribuzione del tempo per stato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  <a:gridCol w="7808976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Contatore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Quando incrementa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udiShStateAuto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OPERATIONAL_AUTOMATIC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udiShStateManual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OPERATIONAL_MANUAL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udiShStateStopping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STOPPING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udiShStateError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stato 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udiShStateOther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tutti gli altri stati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udiShUptimeSec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secondi totali di osservazione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Disponibilità e OEE: cosa manca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Calcolabile oggi: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availability ≈ (uptime − time in error) / uptime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quality ≈ good cycles / cycles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performance ≈ products/min reale vs teorico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manca per un OEE formale: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tempo teorico per pezzo definito e accettato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distinzione fra fermate pianificate e non pianificate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motivo di fermata categorizzato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dirlo: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OEE su basi ambigue genera discussioni invece di decisioni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KPI E METRICHE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Reset turno: cosa azzera e cosa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IF rtReset.Q THEN                      // G_xKPI_ResetShift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udiShPlaced := 0;  udiShPicked := 0;  udiShCycles := 0;  udiShCyclesGood :=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udiShPickErr := 0; udiShVisionCycles := 0; udiShEmptyPhotos := 0; udiShDetected :=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udiShTriggers := 0; udiShLatch := 0; udiShStray := 0; udiShErrors :=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  udiShStateAuto := 0; ...  rCycleSumMs := 0.0; rCycleMinMs := 999999999.0;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END_IF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// NON azzerati: udiLifePicked, udiLifePlaced, udiLifeCycles, udiLifeVision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Reset intenzionale e manuale: nessun azzeramento automatico a mezzanotte.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Un solo canale dati, nessuna eccezione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Canale unico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DataList e flag OPC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HMI.pou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Pagina Robot &amp; Part Positions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Cosa non è esponibile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Il pannello non legge il PLC: legge HMI_Data.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Una sola struttura, un solo punto di mappatura, nessuna pagina che conosce il codice.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 regola del canale unico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Tutto ciò che il pannello vede è in HMI_Data (RETAIN, IsOpc = True)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comandi scritti dal pannello, validati dal PLC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status e feedback scritti dal PLC, sola lettura lato pannello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cambiare l'HMI non richiede di cambiare la logica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l'interfaccia si può versionare separatamente dal processo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pannello non può scrivere una variabile interna per errore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Eccezione controllata: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KPI_Data è pubblicata direttamente (solo lettura)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 per aggiungere campi: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prima il tipo in DT_HMI, poi la mappatura in HMI.pou, poi la pagina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Come si aggiunge un campo HMI (3 passi)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1) DT_HMI.dt — dichiarazione nel tipo giusto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ST_HMI_Tracking : STRUCT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WindowStart : LREAL;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WindowEnd   : LREAL;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BeltPos     : ARRAY[0..7] OF LREAL;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END_STRUCT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2) HMI.pou — mappatura (SlowTask, 32 ms)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HMI_Data.Tracking.WindowStart := vFeedIn_FrameOffset[1] + DATA_Machine.Setting.TrackingWindowStart;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3) DataList — HMI_Data ha IsOpc = True: il nodo OPC compare da 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Nessun passaggio in più: ogni campo sotto HMI_Data è automaticamente visibile.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Flag del DataList (estratto)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416"/>
                <a:gridCol w="1115568"/>
                <a:gridCol w="1301495"/>
                <a:gridCol w="4648200"/>
              </a:tblGrid>
              <a:tr h="6400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Variabile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OPC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HMI_Data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canale unico pannello, impostazioni persistenti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KPI_Data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metriche consultabili anche da altri sistemi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G_xCycleActive / G_bAutoCycleRunning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indicatori di ciclo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G_xKPI_ResetShift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comando di reset turno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MultiGrpProductData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buffer grande: si pubblica solo il mirror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MonitorStatusData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dato interno del monitor prodotti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DATA_Delta, DATA_FeedInAxis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accesso diretto non necessario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HMI.pou: struttura tipica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Sezioni, in ordine: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1. comandi (HMI → PLC) con validazione di modo e sicurezza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2. setting copiati nelle strutture DATA_*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3. status (PLC → HMI): stati macchina, assi, gruppo, processo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4. sezioni specifiche (Tracking, pagina Robot &amp; Part Positions)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è lungo e piatto: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solo scrittore per campo, ordine di lettura prevedibile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si legge dall'alto in basso come una tabella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Costo accettato: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righe ripetitive, in cambio della leggibilità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Il ciclo di un comando: esempio MoveAbsolute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Il pannello scrive HMI_Data.Axis.FeedIn.Command.MoveAbsolute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HMI.pou valida: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modo manuale, Safety_Button, nessun altro comando in corso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Copia in DATA_FeedInAxis.Command.AbsPositioning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4. FB_AxisController mappa su CMD_AbsPos e chiama MC_MoveAbsolute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5. Il drive esegue; lo stato torna in DATA_FeedInAxis.Status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6. HMI.pou copia in HMI_Data.Axis.FeedIn.Status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Punto critico: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validazione va nel PLC, non nell'HMI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Pagina 'Robot &amp; Part Positions' — requisiti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Mostra, tutto da HMI_Data: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posa del TCP: X, Y, Z, Rx, Ry, Rz come scalari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angoli dei giunti: S, L, U, T, B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coda pezzi: X, Y, Rz, BELT, DIST. TO WINDOW, STATO (8 righe)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prossimo pezzo da prendere + livello del buffer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stato robot/sequencer e nome ricetta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 scalari e non un VECTOR: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l'accesso a elementi di VECTOR su OPC è fragile in JMobile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Cosa NON è stato messo: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punteggio visione (non esiste nel telegramma), indice di priorità inventato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Mappa tag della pagina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926080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Blocco pagina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Sorgente PLC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TCP attuale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HMI_Data.Robot.Feedback.TCP.X/Y/Z/Rx/Ry/Rz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DATA_Delta.Status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Giunti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HMI_Data.Robot.Feedback.Joint[0..4]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DATA_Delta.Status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Robot status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HMI_Data.Robot.Status.ErrorID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DATA_Delta.Error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Coda pezzi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HMI_Data.Tracking.{X,Y,Rz,BeltPos,DistToWindow,State}[0..7]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mirror MultiGrpProductData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Buffer level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HMI_Data.Tracking.BufferLevel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UsePointer/StorePointer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Finestra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HMI_Data.Tracking.WindowStart / WindowEnd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FrameOffset + Setting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Prossimo target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HMI_Data.Tracking.NextX / NextY / NextRz / NextDistToWindow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mirror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Velocità nastro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HMI_Data.Tracking.BeltSpeedActual / Setpoint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Feedback.ActualSpeed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Stato processo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HMI_Data.Process.Status.* (Step, RecipeName, TrackingActive)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B36"/>
                          </a:solidFill>
                          <a:latin typeface="Calibri"/>
                        </a:rPr>
                        <a:t>sequencer / HMI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HMI E INTERFACCIA OPERATORE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Cosa non è esponibile (e perché)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Punteggio / ClassID della visione: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telegramma VISOR contiene solo posizione, angolo e conteggio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Tempo ciclo per singolo pezzo: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esistono il tempo di pick e il tempo di ciclo, non per pezzo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'Slot' di deposito numerico: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deposito è definito dal frame FeedOut, non da un indice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Sensore 'B1':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non esiste: ci sono DI0_4/6/7_Spare, GreenInputButton, YellowInputButton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servirebbe aggiungere sensori o cambiare il telegramma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Se l'HMI ha bisogno di un dato, quel dato deve esistere nel PLC.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Altrimenti si aggiunge il sensore o si toglie il campo: mai inventare.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Sicurezza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Cosa è hardware, cosa è software, cosa non si può bypassare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Catene CH0/CH1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Guard 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Ruolo del PLC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Sequenza E-stop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La sicurezza non è nel codice: il codice legge solo l'esito.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Nessuna riga di Structured Text può escludere una catena di sicurezza.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Segnali di sicurezza nel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6343"/>
                <a:gridCol w="1487424"/>
                <a:gridCol w="5391912"/>
              </a:tblGrid>
              <a:tr h="8534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Segnale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Uso nel software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safeEmergency_CH0 / CH1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letto come E_Stop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safeDeltaDoor_CH0 / CH1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porta robot: consenso/guard lock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safeCameraDoor_CH0 / CH1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porta 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safePilzSTO_SL / _UB / _TInv / _Spare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STO per gruppi di assi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safeOutDeltaDoor / safeOutCameraDoor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uscite guard lock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STO e la differenza con 'power off'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STO (Safe Torque Off):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toglie la coppia senza togliere l'alimentazione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drive resta vivo e in comunicazione, il riavvio è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Power off (En_Power := FALSE):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disabilitazione controllata dal software standard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passa da UNPOWERING con timeout e verifica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Perché servono entrambi: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STO protegge le persone (hardware)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power off è la sequenza di riposo della macchina (software)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Errore comune: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credere che una E-stop software fermi il robot: la coppia la toglie FSoE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Guard lock: chi apre e quando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Regola: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porta resta bloccata finché l'uscita sicura safeOut*Door è attiva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lo sblocco richiede macchina ferma e nessun movimento in corso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Nel software standard: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le uscite sicure sono pilotate dalla logica di sicurezza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PLC standard può solo leggere lo stato porta e bloccare i comandi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Conseguenza per la manutenzione: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un comando non parte con porta aperta non è un bug: manca un consenso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Diagnostica: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stato porte e consensi nella pagina di sicurezza del pannello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Cosa può e non può fare il PLC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4754880"/>
              </a:tblGrid>
              <a:tr h="7315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Possibile?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Leggere lo stato di una catena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solo come informazione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Escludere una catena di sicurezza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compito dell'impianto FSoE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Riavviare un drive dopo STO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se la catena è ripristinata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Bloccare un comando 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validazione di modo/consenso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Forzare un'uscita sicura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B3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solo il programma di sicurezza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Registrare l'evento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B36"/>
                          </a:solidFill>
                          <a:latin typeface="Calibri"/>
                        </a:rPr>
                        <a:t>LogEvent / AddUpdateError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SICUREZZA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Sequenza E-stop vista dal software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La catena si apre (hardware): STO su tutti i gruppi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safeEmergency_CH0/CH1 arrivano come BOOL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FB_MachineController rileva E_Stop nei gestori di stato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4. Transizione a STOPPING (toglie comandi, arma group stop)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5. Sequencer in NON esecuzione, visione disabilitata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6. UNPOWERING → SHUTDOWN, con log di ogni passo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si vede sul pannello: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stato macchina, lista errori con timestamp, causa più recente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non si vede: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quale catena fisica ha ceduto: competenza del diagnostico FSoE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Casi di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Tre modifiche reali, lette come design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Stop ciclo asimmetrico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Finestra di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Pagina HMI con dati inesistenti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Metodo comune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Caso 1: il FeedIn impiegava molto più del FeedOut a fermarsi.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Sintomo dell'operatore: 'lo stop ciclo è lento e sembra che il nastro in ingresso non risponda'.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Caso 1 — analisi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Sintomo: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allo Stop Cycle il FeedOut si ferma subito, il FeedIn no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nessun errore: solo comportamento diverso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Causa: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 nastri in automatico sono in JOG → si fermano con JogDec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HMI.pou mappava JogDec del FeedIn con MIN(CommandDeceleration, FeedIn_SmoothDeceleration)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FeedIn_SmoothDeceleration usciva dal blocco di rampa (dec_min = 100)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FeedOut usa CommandDeceleration: da qui l'asimmetria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 sembrava ragionevole: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l'idea era che la decelerazione seguisse la rampa di velocità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in realtà la rampa modula il setpoint, non la decelerazione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Caso 1 — prima e dopo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PRIMA (HMI.pou)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DATA_FeedInAxis.Setting.JogDec := MIN(HMI_Data.Axis.FeedIn.Setting.CommandDeceleration,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                                      FeedIn_SmoothDeceleration);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DOPO (HMI.pou)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DATA_FeedInAxis.Setting.JogDec := HMI_Data.Axis.FeedIn.Setting.CommandDeceleration;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// FB_ConveyorController: la decelerazione non dipende piu' dalla zona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B2B38"/>
                </a:solidFill>
                <a:latin typeface="Consolas"/>
              </a:rPr>
              <a:t>deceleration := dec_max;   // era: dec_min in zona 1, MAX(...) nelle fasi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La correzione è piccola: la diagnosi è stata la parte difficile.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Caso 2: la fine della rampa deve stare dentro la finestra di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Il nastro si ferma a 450 mm, il tracking arriva a 500 mm: 50 mm di margine.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Caso 2 — analisi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Problema originale: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setpoint passava da v_nominal a v_min e poi a 0 'di colpo'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con decelerazione minima il pezzo superava il punto di stop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Conseguenza: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robot perdeva il sync, il ciclo andava in errore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oppure il pezzo era preso 'di striscio' (errore di posizione)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Correzione: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rampa proporzionale negli ultimi 50 mm: setpoint a 0 sulla soglia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zona 2 a velocità costante contro l'effetto pompa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azzeramento secco sotto 1 mm per garantire il fermo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Verifica: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pezzo marcato: scostamento fra punto di stop e 450 mm ≤ pochi mm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La rampa finale, in tre righe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B2B38"/>
                </a:solidFill>
                <a:latin typeface="Consolas"/>
              </a:rPr>
              <a:t>d_remaining := tracking_end - distance;               // 0 .. 50 mm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B2B38"/>
                </a:solidFill>
                <a:latin typeface="Consolas"/>
              </a:rPr>
              <a:t>ratio_end   := 1.0 - (d_remaining / ramp_margin);     // 0 ..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B2B38"/>
                </a:solidFill>
                <a:latin typeface="Consolas"/>
              </a:rPr>
              <a:t>speed_setpoint := v_ramp_min * (1.0 - ratio_end);     // v_min .. 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B2B38"/>
                </a:solidFill>
                <a:latin typeface="Consolas"/>
              </a:rPr>
              <a:t>IF d_remaining &lt; 1.0 THEN speed_setpoint := 0.0; END_IF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Continua per costruzione: nessun gradino nel setpoint, zero esatto sulla soglia.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Caso 3: la pagina HMI conteneva dati che il PLC non aveva.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Punteggio visione, tempo ciclo per pezzo, indice di priorità: non esistono nel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Caso 3 — analisi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Origine: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pagina disegnata come mockup, senza verificare i tag disponibili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Verifica sul telegramma VISOR: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solo X, Y, Rz per 4 pezzi e Part_Count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nessun punteggio, nessuna classe, nessun tempo per pezzo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Verifica sui moduli I/O: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non esiste un ingresso 'B1'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Decisione: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togliere i campi, non sostituirli con valori inventati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aggiungere invece coda pezzi, prossimo target, finestra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Perché: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un numero senza significato genera decisioni sbagliate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Cosa è stato aggiunto alla pagina (con la sorgente)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Sorgente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TCP X/Y/Z/Rx/Ry/Rz scalari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HMI_Data.Robot.Feedback.TCP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JMobile non digerisce bene i VECTOR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Coda pezzi (8 righe)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mirror di MultiGrpProductData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variabile non OPC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BeltPos per pezzo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ActualPosition − RecordedPosition − OffsetCamera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stessa formula della logica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DistToWindow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WindowStart − BeltPos (clampato a 0)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rende visibile il margine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Prossimo target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UsePointer della coda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anticipa cosa farà il robot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Stato sequencer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eCurrentStepName del sequencer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istanza locale al 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CASI DI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tre lezioni dei casi di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Un parametro 'adattivo' rompe un invariante: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due attori devono comportarsi uguale, il parametro deve essere uno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La specifica fisica va scritta: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'il pezzo non deve superare la finestra' è un requisito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va tradotto in un margine numerico e verificato in collaudo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Non si inventano dati: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 il dato non esiste, si toglie il campo o si aggiunge il sensore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Metodo comune: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confrontare i percorsi, misurare, scrivere la specifica, poi correggere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Procedure operative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Avvio, commissioning, deploy e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Sequenza di avvio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Teach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Troubleshooting in 6 passi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Diagnostica rapida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Sequenza di avvio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206240"/>
                <a:gridCol w="612648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Passo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Cosa deve essere vero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INIT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uscite di default, nessun comando armato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IDLE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macchina in sicurezza, porte chiuse, E-stop non attiva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POWERING_UP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servo che si abilitano, nessun allarme persistente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HOMING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assi referenziati, posizione valida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WAIT_FOR_COMMISSIONING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solo se richiesto: posizione manuale impostata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OPERATIONAL_MANUAL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jog e teach disponibili con Safety_Button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OPERATIONAL_AUTOMATIC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Start Cycle → nastri e sequencer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Procedura di teach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Preparazione: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macchina in MANUAL, servo ON (o free-drag con servo OFF)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pezzo di riferimento posizionato nel frame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Esecuzione: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selezionare il frame (FeedIn = aTeachFrame[1], FeedOut = aTeachFrame[2])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TCP su OO → ConfirmPoint; su XX → ConfirmPoint; su XY → ConfirmPoint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Verifica: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controllare il frame calcolato prima di uscire dallo stato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fare un pick a vuoto e misurare lo scostamento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Errori tipici: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punti troppo vicini, punti non complanari, conferma con doppio fronte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Deploy e versionamento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Flusso iCube: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modifica → build → download; verificare i warning prima del download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Prima del deploy: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backup del progetto e dei parametri drive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annotare la versione in CHANGELOG.pou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Nel repository: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 branch per modifica, un commit descrittivo, una PR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messaggio dice cosa cambia e perché, non solo 'fix'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Dopo il deploy: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power-up, homing, un ciclo manuale, un ciclo automatico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controllo del buffer errori e dei KPI di turno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CHANGELOG.pou — convenzione di versione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11155680" cy="4846320"/>
          </a:xfrm>
          <a:prstGeom prst="rect">
            <a:avLst/>
          </a:prstGeom>
          <a:solidFill>
            <a:srgbClr val="F2F5F7"/>
          </a:solidFill>
          <a:ln w="9525">
            <a:solidFill>
              <a:srgbClr val="E8ED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45720" cy="484632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280160"/>
            <a:ext cx="107899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v_0.08.05 - HMI: dati completi per la pagina 'Robot &amp; Part Positions'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+ HMI_Data.Tracking: mirror della coda prodotti (8 righe)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+ scalari TCP per compatibilita' JMobile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~ OffsetCamera e finestre da DT_Machine.Setting (unica sorgente)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v_0.08.04 - Nastro: rampa continua e decelerazione unica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+ FB_ConveyorController: 4 zone, v_min costante, rampa finale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~ JogDec FeedIn = CommandDeceleration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v_0.08.03 - Fix stop ciclo FeedIn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1B2B38"/>
                </a:solidFill>
                <a:latin typeface="Consolas"/>
              </a:rPr>
              <a:t>  - rimosso MIN(CommandDeceleration, SmoothDeceleration)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E7DA0"/>
                </a:solidFill>
                <a:latin typeface="Calibri"/>
              </a:rPr>
              <a:t>Formato: versione, area, elenco con + aggiunte / ~ modifiche / − rimosse.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Troubleshooting in 6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1. Dove si è fermato il ciclo?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HMI_Data.Process.Status.Step → nome dello step corrente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2. In che stato è la macchina?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OPERATIONAL, STOPPING, ERROR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3. C'è un errore attivo?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severità, sorgente, timestamp; poi il codice allarme del drive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4. Gli assi sono abilitati e referenziati?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ServoOn, Homed, Enabled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5. Il dato di ingresso è coerente?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coda pezzi, posizione latchata, connessione visione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500">
                <a:solidFill>
                  <a:srgbClr val="1F2B36"/>
                </a:solidFill>
                <a:latin typeface="Calibri"/>
              </a:rPr>
              <a:t>6. Solo ora il codice: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350">
                <a:solidFill>
                  <a:srgbClr val="5D6E7C"/>
                </a:solidFill>
                <a:latin typeface="Calibri"/>
              </a:rPr>
              <a:t>–  il metodo dello step, il dispatcher, il driver di motion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PROCEDURE OPERATIVE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Diagnostica rapida per sintomo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4206240"/>
              </a:tblGrid>
              <a:tr h="5689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Sintomo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Prima verifica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Poi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Non parte il ciclo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stato macchina e modo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G_bAutoCycleRunning, comandi HMI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Ciclo fermo su uno step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Step su 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metodo dello step, FB che deve dare Done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Pezzo preso male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frame e offset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tracking, latch, Rz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Nastro non si ferma in tempo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v_min, end_zone_margin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OffsetCamera, finestra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Servo non si abilita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catena sicurezza, allarme drive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En_Power, reset allarmi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 non aggiorna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SlowTask, watchdog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mappatura in HMI.pou, IsOpc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KPI a zero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contatori G_, reset turno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FB_KPI, delta e old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Doppio pick non eseguito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modo doppio selezionato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step 0, SelectNextProduct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Debito tecnico 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Cosa migliorare, in che ordine e con quale rischio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Debito riconosciuto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Tre priorità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Glossario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Dove trovare le cose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DEBITO TECNICO 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Debito tecnico riconosciuto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9983"/>
                <a:gridCol w="3914273"/>
                <a:gridCol w="1761423"/>
              </a:tblGrid>
              <a:tr h="568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Voce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Rischio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Priorità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Delta UDINT negativi dopo riavvio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KPI errati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Limiti di pick/place commentati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movimento fuori area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Nessun test automatico / simulazione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regressioni invisibili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B36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Parametri di rampa hardcoded in PickPlaceManager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difficili da tarare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Molti AddUpdateError/CheckAndEnqueue commentati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diagnostica incompleta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Doppia copia della formula distanza (logica + HMI)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rischio divergenza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Teach senza validazione geometrica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frame mal condizionati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Bassa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Codice legacy commentato nel blocco di rampa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confusione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Bassa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DEBITO TECNICO 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 tre priorità consigliate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1. Proteggere i KPI dal riavvio: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clamp dei delta negativi o inizializzazione coerente degli old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2. Ripristinare i controlli di limite: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verificare X/Y/Rz contro LimitPos prima del pick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evita prese fuori area con possibile collisione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3. Portare i parametri di rampa in DT_Machine: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v_min, end_zone_margin, acc_min/dec_min come setting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taratura senza rebuild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Metodo: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una modifica per volta, con changelog e verifica in manuale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DEBITO TECNICO 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Roadmap proposta (6-12 mesi)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7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6766559"/>
                <a:gridCol w="2743199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Orizzonte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Attività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Breve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clamp KPI, controlli limite, parametri in DT_Machine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v_0.09.x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Breve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pulizia codice legacy e commenti morti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leggibilità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categorie di fermata per il calcolo OEE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report turno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rate-limiter e pareto errori lato 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diagnostica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simulazione su asse virtuale per test di sequenza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test ripetibili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Lungo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telegramma visione esteso (classe/punteggio)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selezione pezzi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Lungo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validazione geometrica del teach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setup più sicuro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DEBITO TECNICO 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Glossario essenziale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776"/>
                <a:gridCol w="7994904"/>
              </a:tblGrid>
              <a:tr h="46551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Termine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Tool Center Point: punto di lavoro del robot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PCS / MCS / WCS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sistemi di coordinate: pezzo / macchina / mondo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Delta (gruppo)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cinematica parallela a 5 assi S L U T 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FeedIn / FeedOut (CI/CO)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nastri di ingresso e uscita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inseguimento del pezzo in movimento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Latch / touch probe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cattura hardware della posizione a un evento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Blend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fusione di più movimenti consecutivi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STO / FSoE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Safe Torque Off / Fail Safe over EtherCAT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OPC UA / DataList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esposizione delle variabili al pannello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RETAIN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persistenza oltre il power cycle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DEBITO TECNICO 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Dove trovare le cose nel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Macchina: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FB_MachineController + i suoi 11 metodi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Ciclo: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FB_PickPlace_Sequencer1 (motore, dispatcher, playlist, step)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Nastro: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FB_ConveyorController + PickPlaceManager + Init.pou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Visione: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VisionManager + FB_VisionApplication + FB_VisorDriver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Interfaccia: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DT_HMI.dt + HMI.pou + DataList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Storia: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CHANGELOG.pou e la storia git del repository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Il codice racconta le decisioni: leggerlo è la formazione.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Ogni commento esteso nel progetto è un pezzo di questa storia.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Appendice A · schede 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Un blocco per POU: ruolo, dipendenze, punti di attenzione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20 schede sintetiche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Dipendenze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Rischi di modifica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FB_MachineController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supervisore della macchina a stati: alimentazione, modo, arresti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FB_ErrorHandler, DATA_Delta, DATA_FeedIn/FeedOutAxis, HMI_Data, IO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11 handler di stato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il cambio stato passa sempre da NextState + bTransition, tranne INIT→IDLE e l'ingresso in TeachFrame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modifica qui = modifica alla sicurezza logica della cella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FB_PickPlace_Sequencer1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motore del ciclo: playlist + dispatcher + 24 step + driver motion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FB_GroupController, DATA_Machine, MultiGrpProductData, HmiFramesData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gli step non fanno transizioni: ritornano BUSY/DONE/ERROR/ACTIVE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un metodo che ritorna sempre BUSY blocca il ciclo senza errore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FB_GroupController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Machine/Group/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incapsula i FB di gruppo Delta e il conveyor tracking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DELTA (AXES_GROUP_REF), FeedIn_Axis, FeedOut_Axis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Contiene:  GroupReadStatus, GroupJogJoint/Linear, MoveLinearAbsolute ×4, MoveLinearRelative, GroupStop, SetPosition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è la sola porta verso il motion di gruppo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cambiare la numerazione di un asse invalida i frame insegnati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FB_AxisController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Machine/Axis/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driver generico di asse: FB PLCopen + letture diagnostiche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AXIS_REF dell'asse, ST_AxisData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Sezioni:  MAPPING_In, MOTION, MAPPING_Out, READINGS, WRITE_Parameters (SDO)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la stessa istanza funziona su FeedIn, FeedOut e Virtual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il touch probe è configurato qui: toccarlo rompe il latch della visione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FB_ErrorHandler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Machine/Error/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raccolta errori in buffer circolare globale con deduplica e severità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G_ErrorBuffer, G_udiErrorHead/Tail, Y_YA_RealTimeClock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AddUpdateError, Update, LogEvent, CheckAndEnqueue, GetErrorMessage, Init/Clear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deduplica su (ErrorCode, ErrorSource); Ack ≠ Reset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LogEvent usato per condizioni persistenti riempie il buffer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calcolo metriche di turno e lifetime in KPI_Data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contatori G_udi*, G_bPieceInHand, G_bPickPlaceError, TouchProbeDone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tick 1 s/1 min, reset turno, calcolo ratei e tempi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i contatori globali si leggono per delta rispetto al valore old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dopo riavvio i delta possono diventare negativi (UDINT)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FB_VisionApplication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Machine/Vision/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esegue il ciclo di visione: trigger, latch, lettura telegramma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FB_VisorDriver, FB_DistanceTrigger, DATA_FeedInAxis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Ingressi:  xEnable, xUsePhysTrigger, rLatchedPosition, xTouchProbeDone/Error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Uscite:  stCurrentResult, xPhysTrigger, xArmTouchProbe, rTriggeredPosition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cambiare l'ordine latch/lettura introduce errore di posizione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FB_VisorDriver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Machine/Vision/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mapping del telegramma SensoPart VISOR su struttura tipizzata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VisorEIP_Receive/Transmit, FC_BytesToReal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6 (parsing campi, stato connessione)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4 pezzi per foto: X[0..3], Y[0..3], Rz[0..3], Part_Count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endianness sbagliata = coordinate assurde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FB_ConveyorController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Utils/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calcola setpoint di velocità/accelerazione/decelerazione del FeedIn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nessuna: parametri in ingresso, puro calcolo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Zone:  1 nominale, 2 v_min costante, 3 rampa finale, 4 fermo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decelerazione sempre = dec_max, anche quando non abilitato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reintrodurre dec_min torna a frenare lentamente lo stop ciclo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FB_TeachFrame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Machine/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procedura 3 punti e calcolo del frame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HmiFramesData.aTeachFrame, GroupSetPosition, FrameTypeTransform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funziona con servo ON (jog) o servo OFF (free-drag)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punti troppo vicini o non complanari danno frame mal condizionati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FB_RotatePosition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Utils/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matrici di rotazione per il polso (B)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nessuna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usato in EnablePickTracking per la rotazione Rz del TCP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convenzioni di segno diverse da quelle del frame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MyFormatProductData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Utils/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converte il risultato visione in InputProductData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stCurrentResult di FB_VisionApplication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Handshake:  Execute / Busy / Done / Error / ErrorID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riceve solo X, Y, Rz (Z, Rx, Ry commentati)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Error non gestito = pezzi persi silenziosamente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McePosTable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FUNCTION_BLOCK · Utils/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tabella di posizioni per movimenti sequenziali (MCE)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nessuna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Metodi:  7 (add, clear, next, read)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non usato nel ciclo pick&amp;place attuale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codice non esercitato: da riverificare prima dell'uso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HMI.pou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Cyclic/ · SlowTask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unica mappatura fra HMI_Data e le strutture di macchina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HMI_Data, DATA_*, KPI_Data, MultiGrpProductData, FeedIn_Smooth*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Sezioni:  comandi, setting, status, mirror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un solo scrittore per campo; mirror coda limitato a 8 righe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watchdog SlowTask 32 ms: nessun ciclo lungo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PickPlaceManager.pou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189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Cyclic/ · FastTask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orchestrazione del ciclo: comandi, sequencer, rampa nastro, valvole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FB_PickPlace_Sequencer1, FB_ConveyorController1, MonitorStatusData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gira a 2 ms: ciò che si aggiunge qui pesa sul motion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Punti chiave:  enable rampa = StartPickPlace AND G_bAutoCycleRunning; step in HMI_Data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valvole gripper forzate OFF in caso di errore step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VisionManager.pou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Cyclic/ · MediumTask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trigger, latch, chiamata visione, formattazione, distribuzione, monitor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fbVisionApp, fbFormatProductData, fbSequenceDistribution, fbMultiGrpProductMonitor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ordine obbligato: latch → FB → copia risultati → distribuzione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Punti chiave:  rDistanceSetpoint 140 mm, tPhysTriggerPulse 10 ms, BufferSize 150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spostare la cattura del latch dopo la chiamata introduce errore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Main.pou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Cyclic/ · MediumTask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entry point: FB_MachineController, FB_KPI, parsing telegramma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fbMachineController, fbKPI, VisorEIP_Receive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qui stanno le conversioni FC_BytesToReal del telegramma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logica pesante qui rallenta la supervisione di stato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IO.pou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Cyclic/ · FastTask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lettura ingressi e scrittura uscite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moduli SliceBus, io.* (struttura I/O)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le valvole gripper sono pilotate da PickPlaceManager, non qui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forzature manuali di uscite durante la produzione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A · SCHEDA POU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Init.pou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PROGRAM · Initialize/ · Warm e Cold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Ruolo:  valori iniziali di tutti i parametri di macchina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Dipendenze:  DATA_Machine, DATA_*Axis, HMI_Data, MultiGrpProductData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Da sapere:  include TrackingWindowStart/End e OffsetCamera: richiede rebuild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Punti di attenzione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Rischio:  default duplicati qui e in HMI_Data creano valori incoerenti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Appendice B · schede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I 24 step del ciclo, uno per slide, più i servizi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13 step di pick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11 step di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Servizi: parking ed errore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Esiti e criticità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M_Step_Initialize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0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prepara il ciclo: pinze chiuse, flag, tracking disarmato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iGripperForThisCycle := iGripperToUse; bDoubleModeForThisCycle := bDoubleMode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disarma tracking FeedIn/FeedOut, CalcFrameOffset_Group.Enable := 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se il ciclo può partire, BUSY se attende StartCycle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qui si congela il modo singolo/doppio del ciclo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M_Step_CheckPickLimits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leggere il pezzo dalla coda e verificarne l'esistenza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UsePointer/StorePointer di stPickPlaceProductData_Pick[GroupNumber]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ActProdX/Y/RZ_Raw ← ProductPosition[1]/[2]/[6]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se il pezzo esiste, BUSY se la coda è vuota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i controlli su LimitPos sono commentati: oggi non bloccano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M_Step_CalcPickOffset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2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applicare l'offset del gripper ruotato di Rz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scelta fra stGripper1_Offset e stGripper2_Offset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X' = X + (ox·cos − oy·sin), Y' = Y + (ox·sin + oy·cos)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 (solo calcolo)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gli offset sono nel sistema del pezzo, non del mondo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M_Step_SetPickFrame_Tracking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3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calcolare il frame FeedIn dai 3 punti insegnati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OO/XX/XY ← HmiFramesData.aTeachFrame[1]; Execute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attesa Done/Error del FB di trasformazione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→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un frame mal condizionato si propaga a tutto il ciclo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M_Step_ConvertPickToCartesian_Tracking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199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4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convertire il vettore frame in riferimento cartesiano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VECTOR_TO_CARTESIANREF1(Vector := FrameCoordinates, CartesianRef =&gt; FeedIn_FrameOffset)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conversione sincrona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vFeedIn_FrameOffset è usato anche dalla rampa nastro e dall'HMI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M_Step_SetPickOffsetAndPCS_Tracking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5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impostare il sistema di coordinate del pezzo (PCS)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GroupSetFrameOffset_FeedIn con Offset := FeedIn_FrameOffset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ExecutionMode Immediately, RefCoordSystem MCS, SetCoordSystem PCS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→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da qui i comandi in PCS seguono il pezzo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M_Step_EnablePickTracking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6 · PICK · 132 righe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armare MC_TrackConveyorBelt sul FeedIn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ConveyorBeltOrigin ← FeedIn_FrameOffset[1..6]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normalizzazione Rz oltre ±90°, RecordedPosition + OffsetCamera, StartDistance 10, EndDistance 500, SyncIn 10/5, SyncOut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quando TrackConveyorBelt_FeedIn.Active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è lo step più lungo: qui si decide la finestra di tracking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M_Step_ApproachPick_Tracking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7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avvicinamento in quota 0 sopra il pezzo, in inseguimento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M_Driver_Motion_Cmd(X, Y, Z=0, Rz=offset, Vel=MinVelocity_Delta)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stMoveOption VelocityUnit 2, TrajectoryShape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al primo riscontro (blending verso lo step successivo)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non attende la fine: il movimento successivo è già armato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M_Step_WaitForPickSync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8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attendere che il tracking sia in sync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nessuna azione di comando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Condizione:  TrackConveyorBelt_FeedIn.InSync OR ActualPosition = 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DATA_Machine.Status.InSyncPick_Delta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il fallback serve per i test a nastro fermo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10/29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M_Step_DescendAndPick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9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discesa a Z pick e attivazione della pinza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bActivateGripper1 := (iGripperForThisCycle = 0)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M_Driver_Motion_Cmd a Z = Delta_Z_Pick (55 mm)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→ preso; salva TempPosConv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la pinza si attiva prima della discesa: nessuna verifica di contatto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M_Step_AscendAfterPick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10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risalita in quota 0 mantenendo il sync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M_Driver_Motion_Cmd a Z = 0, Vel = ZPickPlaceSpeed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pinza invariata (chiusa)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senza sensore pezzo, una presa mancata si vede solo sui KPI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M_Step_MoveToParking_AfterPick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11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portare il robot sopra il FeedOut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X/Y del frame FeedOut, Z = MIN(FeedIn.Z, FeedOut.Z), Rz = −45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transito con MinVelocity_Delta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Rz = −45 è un orientamento di transito, non di processo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M_Step_SelectNextProduct_Pick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12 · PICK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decidere se c'è un secondo pezzo da prendere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IF UsePointer &lt;&gt; StorePointer THEN xiSelectNextProduct_Pick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altrimenti UsePointer := 0 e bGoToNextPhase :=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con eventuale eRequestedJumpState := Initialize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unico punto in cui il ciclo torna indietro nella playlist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M_Step_InitializePlace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13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resetta i flag della fase di deposito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preparazione variabili di place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bPlacePhaseActive := TRUE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con bPlacePhaseActive TRUE il soft abort non è più permesso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M_Step_SetPlaceFrame_Tracking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14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calcolare il frame del FeedOut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OO/XX/XY ← aTeachFrame[2]; Execute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attesa Done di FrameTypeTransform_FeedOut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→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frame errato = depositi spostati, prese corrette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M_Step_ConvertPlaceToCartesian_Tracking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15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conversione del frame di deposito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conversione del frame FeedOut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nessuna logica di processo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/ BUSY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simmetrico allo step 4: le convenzioni vanno cambiate insieme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M_Step_EnablePlaceTracking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16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armare il tracking sul FeedOut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ConveyorBeltOrigin ← FeedOut_FrameOffset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EndDistance 200 mm, Rz iniziale = −FeedOut_FrameOffset.Rz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quando il tracking è attivo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la finestra di uscita è più stretta della entrata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M_Step_ApproachPlace_Tracking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17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avvicinamento sopra il punto di deposito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M_Driver_Motion_Cmd con X/Y di place, Z=0, Rz=−45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in inseguimento del FeedOut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Rz di transito non è l'orientamento finale di deposito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19/29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M_Step_WaitForPlaceSync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18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attendere il sync sul nastro di uscita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nessuna azione di comando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Condizione:  TrackConveyorBelt_FeedOut.InSync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DATA_Machine.Status.InSyncPlace_Delta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qui non c'è il fallback su ActualPosition = 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20/29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M_Step_DescendAndPlace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19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discesa e rilascio del pezzo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M_Driver_Motion_Cmd a Z = Delta_Z_Place (35 mm)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disattivazione della pinza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Z place 35 &lt; Z pick 55: il deposito è più basso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21/29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M_Step_WaitAfterPlace_Tracking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20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garantire che il pezzo sia appoggiato prima di risalire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nessuna azione di comando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Condizione:  corsa nastro minima dopo il rilascio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alla condizione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se troppo corta, il pezzo può essere trascinato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22/29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M_Step_AscendAfterPlace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21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risalita dopo il deposito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M_Driver_Motion_Cmd a Z = 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pinze 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un urto qui è tipico di Z di place troppo bassa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23/29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M_Step_MoveToParking_AfterPlace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22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rientro verso la posizione di parcheggio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movimento verso il parking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velocità MinVelocity_Delta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ACTIVE / DONE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il parking non deriva dai frame: è definito dalla playlist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M_Step_CycleCompletitionAndChangeMode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23 ·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chiudere il ciclo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bPlaceCycleComplete := TRUE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il manager azzera iPartOnGripper e ricarica Run o Parking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la transizione non è dello step: la fa il motore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25/29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M_Step_InitParking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disarmare tracking e azzerare lo stato di movimento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tracking Execute := FALSE, gripper OFF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M_Driver_InitPointers() → riparte da Blend1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senza InitPointers il primo movimento userebbe il blocco successivo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26/29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M_Step_MoveToParking_SafePosition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portare il robot in posizione fuori ingombro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movimento lineare verso la quota sicura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esito verificato con M_Driver_Motion_Check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→ DONE / ERROR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48 righe: contiene la gestione dei casi di errore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27/29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M_Step_FinalParkingCompletition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PARKING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chiusura della sequenza di parking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FrameTypeTransform_FeedIn/FeedOut.Execute := FALSE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CalcFrameOffset_Group.Enable := FALSE, GroupSetFrameOffset disarmati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DONE immediato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un Execute rimasto alto fa ricalcolare il frame a sorpresa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28/29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SERVIZIO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stato di attesa quando il sequencer è in errore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Entry:  bActivateGripper1/2 := FALSE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Azioni:  nessuna: resta BUSY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fino al reset esterno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è l'unico step che non esce da solo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STEP 29/29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M_Step_StartMovePath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SERVIZIO · non in playlist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Scopo:  attesa di una corsa minima del nastro prima di risalire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Stato:  commentato in M_ConfigSequence_Run: non eseguito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Logica:  fbRotatePosition + io.bRun/io.bDone/io.bError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188720"/>
            <a:ext cx="5486400" cy="384048"/>
          </a:xfrm>
          <a:prstGeom prst="rect">
            <a:avLst/>
          </a:prstGeom>
          <a:solidFill>
            <a:srgbClr val="E8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4358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23394A"/>
                </a:solidFill>
                <a:latin typeface="Calibri"/>
              </a:rPr>
              <a:t>Esito e punti critici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19072"/>
            <a:ext cx="5394960" cy="4480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Esito:  BUSY / DONE / ERROR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300">
                <a:solidFill>
                  <a:srgbClr val="1F2B36"/>
                </a:solidFill>
                <a:latin typeface="Calibri"/>
              </a:rPr>
              <a:t>Attenzione:  codice dormiente: non fa parte del ciclo produttivo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B · SCHEDE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Riepilogo: esiti attesi per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743200"/>
                <a:gridCol w="4572000"/>
              </a:tblGrid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Esito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Condizione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Initialize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 / BUSY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StartCycle e modo valido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CheckPickLimits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 / BUSY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pezzo presente in coda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SetFrame / Convert / SetPCS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 / BUSY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 dei FB di frame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EnablePickTracking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TrackConveyorBelt.Active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Approach / Ascend / MoveToParking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ACTIVE / DONE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riscontro del blocco di motion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WaitForPickSync / PlaceSync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InSync (o ActualPosition = 0 per il pick)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DescendAndPick / Place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blocco di motion in esecuzione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SelectNextProduct_Pick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DONE + jump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coda non vuota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BUSY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mai: richiede reset esterno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Appendice C · esercizi in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Otto esercizi guidati sul codice reale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Lettura del codice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Parametri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Diagnosi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Progettare una modifica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C · ESERCIZI IN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Esercizi 1-2: lettura e tracciamento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1 — Il percorso di un comando: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da HMI_Data.Axis.FeedIn.Command.JogPos fino a MC_Jog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elencare tutti i passaggi; dire dove si valida il modo manuale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2 — Il percorso di un dato: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da Pos_X[0] del telegramma fino a HMI_Data.Tracking.X[0]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elencare strutture attraversate e chi le scrive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si impara: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mappa delle responsabilità e i punti di conversione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C · ESERCIZI IN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Esercizi 3-4: parametri e diagnosi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3 — Effetto di un parametro: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con TrackingWindowEnd 450 e EndDistance 500, calcolare la velocità a 420 e 448 mm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dire cosa succede portando TrackingWindowEnd a 520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4 — Diagnosi su carta: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ciclo si ferma sempre su EnablePickTracking: 5 cause in ordine di probabilità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per ognuna, il tag da guardare sul pannello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si impara: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ragionare sull'invariante fisico prima che sul codice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C · ESERCIZI IN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Esercizi 5-6: codice e modifiche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5 — Scrivere uno step: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aggiungere M_Step_CheckGripperPressure (fittizio)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metodo + dispatcher + playlist; indicare cosa serve in M_ResetMachine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6 — Modificare un parametro in sicurezza: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spostare v_min e end_zone_margin da PickPlaceManager a DT_Machine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elencare i file da toccare e i controlli successivi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si impara: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checklist delle modifiche coordinate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il costo reale di un parametro hardcoded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C · ESERCIZI IN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Esercizi 7-8: interfaccia e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49377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7 — Nuova riga HMI: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aggiungere alla pagina il tempo dall'ultima presa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dove si dichiara il campo, dove si mappa, come si collega la pagina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verificare che il dato esista davvero nel PLC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8 — Verificare un KPI: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ricostruire dal codice la formula del quality rate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quali eventi lo incrementano e quali lo degradano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trovare un caso in cui il valore è fuorviante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600">
                <a:solidFill>
                  <a:srgbClr val="1F2B36"/>
                </a:solidFill>
                <a:latin typeface="Calibri"/>
              </a:rPr>
              <a:t>Cosa si impara:</a:t>
            </a:r>
          </a:p>
          <a:p>
            <a:pPr lvl="1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E7C"/>
                </a:solidFill>
                <a:latin typeface="Calibri"/>
              </a:rPr>
              <a:t>–  la regola 'se il dato non esiste, non si inventa'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6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>
                <a:solidFill>
                  <a:srgbClr val="7FA5BE"/>
                </a:solidFill>
                <a:latin typeface="Calibri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Appendice D · riferimento rapido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C9DAE4"/>
                </a:solidFill>
                <a:latin typeface="Calibri"/>
              </a:rPr>
              <a:t>Globali, unità, prefissi, indice dei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Variabili globali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Unità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Prefissi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B8CDDB"/>
                </a:solidFill>
                <a:latin typeface="Calibri"/>
              </a:rPr>
              <a:t>—  File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D · RIFERIMENTO RAPIDO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Variabili globali più usate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  <a:gridCol w="4572000"/>
              </a:tblGrid>
              <a:tr h="51206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Nome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Chi la scrive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G_bAutoCycleRunning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HandleAutomaticState (latch start/stop)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G_bPieceInHand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sequencer (prelievo/piazzatura)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G_bPickPlaceError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sequencer / manager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G_bResetAllErrors / G_bAcknowledgeAllErrors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HMI, azzerate da FB_ErrorHandler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G_xKPI_ResetShift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HMI, letta da FB_KPI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G_ErrorBuffer[]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array di struct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FB_ErrorHandler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G_udiErrorHead / G_udiErrorTail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UDINT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FB_ErrorHandler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G_udiVisionCycles / EmptyPhotos / ProductsDetected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UDINT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VisionManager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G_tVisionLastProcTime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VisionManager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D · RIFERIMENTO RAPIDO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Unità e convenzioni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704"/>
                <a:gridCol w="2231136"/>
                <a:gridCol w="557784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Grandezza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Unità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Posizioni cartesiane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frame MCS/WCS/PCS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Angoli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gradi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deg → rad con DEG_TO_RAD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Velocità assi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mm/s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VelocityUnit = 2 nei blocchi di motion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Accelerazioni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mm/s²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ordine di 10^3–10^4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Distanze visione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telegramma ÷ 1000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Tempi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TIME (ms)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TIME_TO_DINT per i KPI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Angoli giunti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gradi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Feedback.Joint[0..4]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D · RIFERIMENTO RAPIDO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Prefissi e suffissi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754880"/>
              </a:tblGrid>
              <a:tr h="568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Esempio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 / udi / ui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INT / UDINT / UINT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iCurrentStepIndex, udiShPlaced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 / lr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REAL / LREAL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rLatchedBeltPos, lrOffX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 / x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BOOL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bStepInitialized, xVision_StartCycle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 / 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STRUCT / ENUM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stMoveOption, eStepResult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 / 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ARRAY / VECTOR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aBuffer_X, vFeedIn_FrameOffset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G_ / DATA_ / HMI_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globale / dati macchina / interfaccia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G_bResetAllErrors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FB_ / FC_ / M_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function block / function / metodo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FB_KPI, M_Step_Error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_Old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valore precedente (per i fronti)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B36"/>
                          </a:solidFill>
                          <a:latin typeface="Calibri"/>
                        </a:rPr>
                        <a:t>bFormatErrorOld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33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9FC4D6"/>
                </a:solidFill>
                <a:latin typeface="Calibri"/>
              </a:rPr>
              <a:t>APPENDICE D · RIFERIMENTO RAPIDO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Indice dei file più consultati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Delta5 iCE2026_6 CELL  ·  training tecnico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2272"/>
                <a:gridCol w="6693408"/>
              </a:tblGrid>
              <a:tr h="46551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File (content/)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>
                    <a:solidFill>
                      <a:srgbClr val="23394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FB_PickPlace_Se~Code~0000.st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motore del sequencer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M_Step_*~Code~0000.st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un file per step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M_Driver_Motion~Code~0000.st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porta unica verso il motion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PickPlaceManage~Code~0000.st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orchestrazione FastTask + rampa nastro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FB_ConveyorC~Code~0000.st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legge a 4 zone del nastro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VisionManager.p~Code~0000.st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catena di visione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HMI.pou~Code~0000.st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mappatura HMI + mirror Tracking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~DT_HMI~0000.dt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tipi dell'interfaccia HMI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~DT_Machine~0000.dt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DT_Machine e stati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CFG_DAD2D28.dl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B36"/>
                          </a:solidFill>
                          <a:latin typeface="Calibri"/>
                        </a:rPr>
                        <a:t>DataList: flag OPC/RETAIN</a:t>
                      </a:r>
                    </a:p>
                  </a:txBody>
                  <a:tcPr marL="54864" marR="54864" marT="18288" marB="18288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46304" cy="1280160"/>
          </a:xfrm>
          <a:prstGeom prst="rect">
            <a:avLst/>
          </a:prstGeom>
          <a:solidFill>
            <a:srgbClr val="2E7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23394A"/>
                </a:solidFill>
                <a:latin typeface="Calibri"/>
              </a:rPr>
              <a:t>Domande, dubbi, casi reali: la formazione continua in reparto.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D6E7C"/>
                </a:solidFill>
                <a:latin typeface="Calibri"/>
              </a:rPr>
              <a:t>Materiale: il progetto stesso, la sua storia git e il CHANGELOG.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D6E7C"/>
                </a:solidFill>
                <a:latin typeface="Calibri"/>
              </a:rPr>
              <a:t>235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